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30" r:id="rId2"/>
    <p:sldMasterId id="2147483747" r:id="rId3"/>
  </p:sldMasterIdLst>
  <p:notesMasterIdLst>
    <p:notesMasterId r:id="rId61"/>
  </p:notesMasterIdLst>
  <p:sldIdLst>
    <p:sldId id="288" r:id="rId4"/>
    <p:sldId id="256" r:id="rId5"/>
    <p:sldId id="258" r:id="rId6"/>
    <p:sldId id="272" r:id="rId7"/>
    <p:sldId id="278" r:id="rId8"/>
    <p:sldId id="273" r:id="rId9"/>
    <p:sldId id="279" r:id="rId10"/>
    <p:sldId id="277" r:id="rId11"/>
    <p:sldId id="267" r:id="rId12"/>
    <p:sldId id="271" r:id="rId13"/>
    <p:sldId id="268" r:id="rId14"/>
    <p:sldId id="274" r:id="rId15"/>
    <p:sldId id="275" r:id="rId16"/>
    <p:sldId id="276" r:id="rId17"/>
    <p:sldId id="280" r:id="rId18"/>
    <p:sldId id="281" r:id="rId19"/>
    <p:sldId id="282" r:id="rId20"/>
    <p:sldId id="269" r:id="rId21"/>
    <p:sldId id="265" r:id="rId22"/>
    <p:sldId id="266" r:id="rId23"/>
    <p:sldId id="289" r:id="rId24"/>
    <p:sldId id="290" r:id="rId25"/>
    <p:sldId id="292" r:id="rId26"/>
    <p:sldId id="293" r:id="rId27"/>
    <p:sldId id="291" r:id="rId28"/>
    <p:sldId id="294" r:id="rId29"/>
    <p:sldId id="257" r:id="rId30"/>
    <p:sldId id="260" r:id="rId31"/>
    <p:sldId id="261" r:id="rId32"/>
    <p:sldId id="263" r:id="rId33"/>
    <p:sldId id="264" r:id="rId34"/>
    <p:sldId id="287" r:id="rId35"/>
    <p:sldId id="285" r:id="rId36"/>
    <p:sldId id="286" r:id="rId37"/>
    <p:sldId id="283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84"/>
  </p:normalViewPr>
  <p:slideViewPr>
    <p:cSldViewPr snapToGrid="0" snapToObjects="1">
      <p:cViewPr varScale="1">
        <p:scale>
          <a:sx n="150" d="100"/>
          <a:sy n="150" d="100"/>
        </p:scale>
        <p:origin x="9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F320-EB42-974B-7B512E04AEC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F320-EB42-974B-7B512E04AEC9}"/>
              </c:ext>
            </c:extLst>
          </c:dPt>
          <c:errBars>
            <c:errBarType val="both"/>
            <c:errValType val="cust"/>
            <c:noEndCap val="0"/>
            <c:plus>
              <c:numRef>
                <c:f>Sheet1!$C$6</c:f>
                <c:numCache>
                  <c:formatCode>General</c:formatCode>
                  <c:ptCount val="1"/>
                  <c:pt idx="0">
                    <c:v>5</c:v>
                  </c:pt>
                </c:numCache>
              </c:numRef>
            </c:plus>
            <c:minus>
              <c:numRef>
                <c:f>Sheet1!$C$6</c:f>
                <c:numCache>
                  <c:formatCode>General</c:formatCode>
                  <c:ptCount val="1"/>
                  <c:pt idx="0">
                    <c:v>5</c:v>
                  </c:pt>
                </c:numCache>
              </c:numRef>
            </c:minus>
          </c:errBars>
          <c:cat>
            <c:strRef>
              <c:f>Sheet1!$B$4:$C$4</c:f>
              <c:strCache>
                <c:ptCount val="2"/>
                <c:pt idx="0">
                  <c:v>Control</c:v>
                </c:pt>
                <c:pt idx="1">
                  <c:v>Kittens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65.5</c:v>
                </c:pt>
                <c:pt idx="1">
                  <c:v>76.5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20-EB42-974B-7B512E04AE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6654024"/>
        <c:axId val="2116381208"/>
      </c:barChart>
      <c:catAx>
        <c:axId val="21166540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800"/>
                </a:pPr>
                <a:r>
                  <a:rPr lang="en-US" sz="2800"/>
                  <a:t>Kitten Treatment Condition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800"/>
            </a:pPr>
            <a:endParaRPr lang="en-US"/>
          </a:p>
        </c:txPr>
        <c:crossAx val="2116381208"/>
        <c:crosses val="autoZero"/>
        <c:auto val="1"/>
        <c:lblAlgn val="ctr"/>
        <c:lblOffset val="100"/>
        <c:noMultiLvlLbl val="0"/>
      </c:catAx>
      <c:valAx>
        <c:axId val="211638120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3000"/>
                </a:pPr>
                <a:r>
                  <a:rPr lang="en-US" sz="3000"/>
                  <a:t>Joy</a:t>
                </a:r>
                <a:r>
                  <a:rPr lang="en-US" sz="3000" baseline="0"/>
                  <a:t> Rating</a:t>
                </a:r>
                <a:endParaRPr lang="en-US" sz="300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800"/>
            </a:pPr>
            <a:endParaRPr lang="en-US"/>
          </a:p>
        </c:txPr>
        <c:crossAx val="2116654024"/>
        <c:crosses val="autoZero"/>
        <c:crossBetween val="between"/>
        <c:majorUnit val="20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5926D-8296-AA42-B287-69273AC369AC}" type="datetimeFigureOut">
              <a:rPr lang="en-US" smtClean="0"/>
              <a:t>9/3/18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4CC89-C056-A948-BA4F-32B22E26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6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4FF09-2A5B-7E48-8273-F60413E9770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99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Jokes,</a:t>
            </a:r>
            <a:r>
              <a:rPr lang="en-US" baseline="0" dirty="0"/>
              <a:t> anecdotes, something topical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C4BB7A-248F-8240-A51B-5E77A7EFF60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75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C4BB7A-248F-8240-A51B-5E77A7EFF60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84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97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4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7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0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0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6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5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6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5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73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4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83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0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89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00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06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641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47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894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77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0960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39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1983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515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72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681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034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32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278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47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39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700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923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122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19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190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4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94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1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7EE5E-2CBA-D54C-B1B4-2BF676AB811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521EA-9900-5940-AB2E-C8365E9E3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27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5.wdp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8.wdp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10.wdp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1.wdp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6.tiff"/><Relationship Id="rId4" Type="http://schemas.openxmlformats.org/officeDocument/2006/relationships/image" Target="../media/image35.tif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utterstock_144176512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725" y="0"/>
            <a:ext cx="10296543" cy="6867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2610" y="579386"/>
            <a:ext cx="85314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Rockwell"/>
                <a:cs typeface="Rockwell"/>
              </a:rPr>
              <a:t>Giving a scientific talk</a:t>
            </a:r>
            <a:endParaRPr lang="en-US" sz="6000" b="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 rot="212422">
            <a:off x="1734900" y="2833038"/>
            <a:ext cx="559818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AKA how to get a good score in </a:t>
            </a:r>
            <a:r>
              <a:rPr lang="en-US" sz="3200" b="1" dirty="0" err="1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Honours</a:t>
            </a:r>
            <a:r>
              <a:rPr lang="en-US" sz="3200" b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Conference </a:t>
            </a:r>
          </a:p>
          <a:p>
            <a:endParaRPr lang="en-US" dirty="0"/>
          </a:p>
        </p:txBody>
      </p:sp>
      <p:cxnSp>
        <p:nvCxnSpPr>
          <p:cNvPr id="8" name="Curved Connector 7"/>
          <p:cNvCxnSpPr/>
          <p:nvPr/>
        </p:nvCxnSpPr>
        <p:spPr>
          <a:xfrm>
            <a:off x="784029" y="2359785"/>
            <a:ext cx="914400" cy="914400"/>
          </a:xfrm>
          <a:prstGeom prst="curvedConnector3">
            <a:avLst>
              <a:gd name="adj1" fmla="val -32152"/>
            </a:avLst>
          </a:prstGeom>
          <a:ln>
            <a:solidFill>
              <a:schemeClr val="tx1"/>
            </a:solidFill>
            <a:headEnd type="arrow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3750" y="5389853"/>
            <a:ext cx="85314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effectLst>
                  <a:glow rad="63500">
                    <a:schemeClr val="bg1">
                      <a:lumMod val="50000"/>
                      <a:lumOff val="50000"/>
                    </a:schemeClr>
                  </a:glow>
                </a:effectLst>
                <a:latin typeface="Rockwell"/>
                <a:cs typeface="Rockwell"/>
              </a:rPr>
              <a:t>Nichola</a:t>
            </a:r>
            <a:r>
              <a:rPr lang="en-US" sz="2800" b="1" dirty="0">
                <a:effectLst>
                  <a:glow rad="63500">
                    <a:schemeClr val="bg1">
                      <a:lumMod val="50000"/>
                      <a:lumOff val="50000"/>
                    </a:schemeClr>
                  </a:glow>
                </a:effectLst>
                <a:latin typeface="Rockwell"/>
                <a:cs typeface="Rockwell"/>
              </a:rPr>
              <a:t> Burton</a:t>
            </a:r>
          </a:p>
          <a:p>
            <a:r>
              <a:rPr lang="en-US" sz="2800" b="1" dirty="0">
                <a:effectLst>
                  <a:glow rad="63500">
                    <a:schemeClr val="bg1">
                      <a:lumMod val="50000"/>
                      <a:lumOff val="50000"/>
                    </a:schemeClr>
                  </a:glow>
                </a:effectLst>
                <a:latin typeface="Rockwell"/>
                <a:cs typeface="Rockwell"/>
              </a:rPr>
              <a:t>Yong Zhi Foo</a:t>
            </a:r>
            <a:endParaRPr lang="en-US" sz="2800" b="1" dirty="0">
              <a:effectLst>
                <a:glow rad="63500">
                  <a:schemeClr val="bg1">
                    <a:lumMod val="50000"/>
                    <a:lumOff val="5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203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eynman.jpg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888"/>
            <a:ext cx="9144000" cy="7065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965" y="705586"/>
            <a:ext cx="8196603" cy="2554545"/>
          </a:xfrm>
          <a:prstGeom prst="rect">
            <a:avLst/>
          </a:prstGeom>
          <a:noFill/>
          <a:effectLst>
            <a:glow>
              <a:schemeClr val="tx1"/>
            </a:glow>
            <a:outerShdw blurRad="50800" dist="38100" dir="5400000" algn="t" rotWithShape="0">
              <a:prstClr val="black">
                <a:alpha val="40000"/>
              </a:prstClr>
            </a:outerShdw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en-US" sz="8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ckwell"/>
                <a:cs typeface="Rockwell"/>
              </a:rPr>
              <a:t>Designing your </a:t>
            </a:r>
          </a:p>
          <a:p>
            <a:r>
              <a:rPr lang="en-US" sz="8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ckwell"/>
                <a:cs typeface="Rockwell"/>
              </a:rPr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39026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eynman.jpg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888"/>
            <a:ext cx="9144000" cy="7065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965" y="490930"/>
            <a:ext cx="85314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Slides are </a:t>
            </a:r>
            <a:r>
              <a:rPr lang="is-IS" sz="88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…...</a:t>
            </a:r>
          </a:p>
          <a:p>
            <a:endParaRPr lang="is-IS" sz="8800" b="1" dirty="0">
              <a:solidFill>
                <a:srgbClr val="FFFFFF"/>
              </a:solidFill>
              <a:latin typeface="Avenir Black"/>
              <a:cs typeface="Avenir Black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499" y="2406297"/>
            <a:ext cx="666556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s-IS" sz="44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Visual aids</a:t>
            </a:r>
          </a:p>
          <a:p>
            <a:endParaRPr lang="is-IS" sz="44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70000"/>
                  </a:prstClr>
                </a:outerShdw>
              </a:effectLst>
              <a:latin typeface="Rockwell"/>
              <a:cs typeface="Rockwell"/>
            </a:endParaRPr>
          </a:p>
          <a:p>
            <a:r>
              <a:rPr lang="en-US" sz="44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N</a:t>
            </a:r>
            <a:r>
              <a:rPr lang="is-IS" sz="44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ot text replacements</a:t>
            </a:r>
            <a:endParaRPr lang="en-US" sz="44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70000"/>
                  </a:prstClr>
                </a:outerShdw>
              </a:effectLst>
              <a:latin typeface="Rockwell"/>
              <a:cs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17958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03199" y="1490134"/>
            <a:ext cx="7004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Rockwell" panose="02060603020205020403" pitchFamily="18" charset="77"/>
              </a:rPr>
              <a:t>Dos </a:t>
            </a:r>
            <a:r>
              <a:rPr lang="en-US" sz="8000" b="1" dirty="0">
                <a:latin typeface="Snell Roundhand" panose="02000603080000090004" pitchFamily="2" charset="77"/>
                <a:cs typeface="Apple Chancery" panose="03020702040506060504" pitchFamily="66" charset="-79"/>
              </a:rPr>
              <a:t>&amp;</a:t>
            </a:r>
            <a:r>
              <a:rPr lang="en-US" sz="8000" b="1" dirty="0">
                <a:latin typeface="Rockwell" panose="02060603020205020403" pitchFamily="18" charset="77"/>
                <a:cs typeface="Apple Chancery" panose="03020702040506060504" pitchFamily="66" charset="-79"/>
              </a:rPr>
              <a:t> </a:t>
            </a:r>
            <a:r>
              <a:rPr lang="en-US" sz="8000" b="1" dirty="0">
                <a:latin typeface="Rockwell" panose="02060603020205020403" pitchFamily="18" charset="77"/>
              </a:rPr>
              <a:t>Don’ts</a:t>
            </a:r>
          </a:p>
        </p:txBody>
      </p:sp>
    </p:spTree>
    <p:extLst>
      <p:ext uri="{BB962C8B-B14F-4D97-AF65-F5344CB8AC3E}">
        <p14:creationId xmlns:p14="http://schemas.microsoft.com/office/powerpoint/2010/main" val="217742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03199" y="1490134"/>
            <a:ext cx="70049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Rockwell" panose="02060603020205020403" pitchFamily="18" charset="77"/>
              </a:rPr>
              <a:t>Keep it </a:t>
            </a:r>
            <a:r>
              <a:rPr lang="en-US" sz="8000" b="1" i="1" dirty="0">
                <a:latin typeface="Rockwell" panose="02060603020205020403" pitchFamily="18" charset="77"/>
              </a:rPr>
              <a:t>simple</a:t>
            </a:r>
          </a:p>
        </p:txBody>
      </p:sp>
    </p:spTree>
    <p:extLst>
      <p:ext uri="{BB962C8B-B14F-4D97-AF65-F5344CB8AC3E}">
        <p14:creationId xmlns:p14="http://schemas.microsoft.com/office/powerpoint/2010/main" val="272425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389473" y="1032934"/>
            <a:ext cx="612140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Rockwell" panose="02060603020205020403" pitchFamily="18" charset="77"/>
              </a:rPr>
              <a:t>Big legible fonts</a:t>
            </a:r>
          </a:p>
          <a:p>
            <a:r>
              <a:rPr lang="en-US" sz="1200" b="1" dirty="0">
                <a:latin typeface="Edwardian Script ITC" panose="030303020407070D0804" pitchFamily="66" charset="77"/>
              </a:rPr>
              <a:t>Because there is no point having words that people can’t read </a:t>
            </a:r>
            <a:endParaRPr lang="en-US" sz="8000" b="1" dirty="0">
              <a:latin typeface="Rockwell" panose="02060603020205020403" pitchFamily="18" charset="77"/>
            </a:endParaRPr>
          </a:p>
          <a:p>
            <a:endParaRPr lang="en-US" sz="2800" b="1" dirty="0">
              <a:latin typeface="Rockwell" panose="02060603020205020403" pitchFamily="18" charset="77"/>
            </a:endParaRPr>
          </a:p>
          <a:p>
            <a:r>
              <a:rPr lang="en-US" sz="4000" b="1">
                <a:latin typeface="Rockwell" panose="02060603020205020403" pitchFamily="18" charset="77"/>
              </a:rPr>
              <a:t>Don’t overcrowd your slides</a:t>
            </a:r>
            <a:endParaRPr lang="en-US" sz="4000" b="1" dirty="0">
              <a:latin typeface="Rockwell" panose="02060603020205020403" pitchFamily="18" charset="77"/>
            </a:endParaRPr>
          </a:p>
          <a:p>
            <a:endParaRPr lang="en-US" sz="2800" b="1" dirty="0">
              <a:latin typeface="Rockwell" panose="02060603020205020403" pitchFamily="18" charset="77"/>
            </a:endParaRPr>
          </a:p>
          <a:p>
            <a:r>
              <a:rPr lang="en-US" sz="4000" b="1" dirty="0">
                <a:latin typeface="Rockwell" panose="02060603020205020403" pitchFamily="18" charset="77"/>
              </a:rPr>
              <a:t>“Breathing space” between elements </a:t>
            </a:r>
          </a:p>
          <a:p>
            <a:endParaRPr lang="en-US" sz="1200" b="1" dirty="0">
              <a:latin typeface="Edwardian Script ITC" panose="030303020407070D0804" pitchFamily="66" charset="77"/>
            </a:endParaRPr>
          </a:p>
          <a:p>
            <a:endParaRPr lang="en-US" sz="1200" b="1" dirty="0">
              <a:latin typeface="Rockwell" panose="02060603020205020403" pitchFamily="18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6D977B-BC16-C24B-9D89-3FBC91F61573}"/>
              </a:ext>
            </a:extLst>
          </p:cNvPr>
          <p:cNvSpPr/>
          <p:nvPr/>
        </p:nvSpPr>
        <p:spPr>
          <a:xfrm>
            <a:off x="4481928" y="1330870"/>
            <a:ext cx="22669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Rockwell" panose="02060603020205020403" pitchFamily="18" charset="77"/>
              </a:rPr>
              <a:t>(citations can be smaller)</a:t>
            </a:r>
          </a:p>
        </p:txBody>
      </p:sp>
    </p:spTree>
    <p:extLst>
      <p:ext uri="{BB962C8B-B14F-4D97-AF65-F5344CB8AC3E}">
        <p14:creationId xmlns:p14="http://schemas.microsoft.com/office/powerpoint/2010/main" val="98227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389473" y="1032934"/>
            <a:ext cx="612140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Rockwell" panose="02060603020205020403" pitchFamily="18" charset="77"/>
              </a:rPr>
              <a:t>Big legible fonts</a:t>
            </a:r>
          </a:p>
          <a:p>
            <a:r>
              <a:rPr lang="en-US" sz="1200" b="1" dirty="0">
                <a:latin typeface="Edwardian Script ITC" panose="030303020407070D0804" pitchFamily="66" charset="77"/>
              </a:rPr>
              <a:t>Because there is no point having words that people can’t read </a:t>
            </a:r>
            <a:endParaRPr lang="en-US" sz="2800" b="1" dirty="0">
              <a:latin typeface="Rockwell" panose="02060603020205020403" pitchFamily="18" charset="77"/>
            </a:endParaRPr>
          </a:p>
          <a:p>
            <a:r>
              <a:rPr lang="en-US" sz="4000" b="1" dirty="0">
                <a:latin typeface="Rockwell" panose="02060603020205020403" pitchFamily="18" charset="77"/>
              </a:rPr>
              <a:t>Don’t overcrowd your slides</a:t>
            </a:r>
            <a:endParaRPr lang="en-US" sz="2800" b="1" dirty="0">
              <a:latin typeface="Rockwell" panose="02060603020205020403" pitchFamily="18" charset="77"/>
            </a:endParaRPr>
          </a:p>
          <a:p>
            <a:r>
              <a:rPr lang="en-US" sz="4000" b="1" dirty="0">
                <a:latin typeface="Rockwell" panose="02060603020205020403" pitchFamily="18" charset="77"/>
              </a:rPr>
              <a:t>“Breathing space” between elements </a:t>
            </a:r>
          </a:p>
          <a:p>
            <a:endParaRPr lang="en-US" sz="1200" b="1" dirty="0">
              <a:latin typeface="Edwardian Script ITC" panose="030303020407070D0804" pitchFamily="66" charset="77"/>
            </a:endParaRPr>
          </a:p>
          <a:p>
            <a:endParaRPr lang="en-US" sz="1200" b="1" dirty="0">
              <a:latin typeface="Rockwell" panose="02060603020205020403" pitchFamily="18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6D977B-BC16-C24B-9D89-3FBC91F61573}"/>
              </a:ext>
            </a:extLst>
          </p:cNvPr>
          <p:cNvSpPr/>
          <p:nvPr/>
        </p:nvSpPr>
        <p:spPr>
          <a:xfrm>
            <a:off x="4481928" y="1330870"/>
            <a:ext cx="22669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Rockwell" panose="02060603020205020403" pitchFamily="18" charset="77"/>
              </a:rPr>
              <a:t>(citations can be smaller)</a:t>
            </a:r>
          </a:p>
        </p:txBody>
      </p:sp>
    </p:spTree>
    <p:extLst>
      <p:ext uri="{BB962C8B-B14F-4D97-AF65-F5344CB8AC3E}">
        <p14:creationId xmlns:p14="http://schemas.microsoft.com/office/powerpoint/2010/main" val="169636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7177CD-DA05-F843-8556-258DECC44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68" y="702732"/>
            <a:ext cx="716682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2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05E01-9888-AF4B-8FF9-9EA46D3F9E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0" b="9924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5133" y="778213"/>
            <a:ext cx="7086602" cy="10127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DDEC7C-B516-A645-B9B5-28C606C7BD8D}"/>
              </a:ext>
            </a:extLst>
          </p:cNvPr>
          <p:cNvSpPr txBox="1"/>
          <p:nvPr/>
        </p:nvSpPr>
        <p:spPr>
          <a:xfrm>
            <a:off x="285722" y="1278466"/>
            <a:ext cx="4918534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Rockwell" panose="02060603020205020403" pitchFamily="18" charset="77"/>
              </a:rPr>
              <a:t>No visual </a:t>
            </a:r>
          </a:p>
          <a:p>
            <a:r>
              <a:rPr lang="en-US" sz="8000" b="1" dirty="0">
                <a:latin typeface="Rockwell" panose="02060603020205020403" pitchFamily="18" charset="77"/>
              </a:rPr>
              <a:t>padding</a:t>
            </a:r>
          </a:p>
          <a:p>
            <a:endParaRPr lang="en-US" sz="3200" b="1" dirty="0">
              <a:latin typeface="Rockwell" panose="02060603020205020403" pitchFamily="18" charset="77"/>
            </a:endParaRPr>
          </a:p>
          <a:p>
            <a:r>
              <a:rPr lang="en-US" sz="3600" b="1" dirty="0">
                <a:latin typeface="Bradley Hand Bold"/>
                <a:cs typeface="Bradley Hand Bold"/>
              </a:rPr>
              <a:t>which means...</a:t>
            </a:r>
          </a:p>
        </p:txBody>
      </p:sp>
    </p:spTree>
    <p:extLst>
      <p:ext uri="{BB962C8B-B14F-4D97-AF65-F5344CB8AC3E}">
        <p14:creationId xmlns:p14="http://schemas.microsoft.com/office/powerpoint/2010/main" val="5599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DDEC7C-B516-A645-B9B5-28C606C7BD8D}"/>
              </a:ext>
            </a:extLst>
          </p:cNvPr>
          <p:cNvSpPr txBox="1"/>
          <p:nvPr/>
        </p:nvSpPr>
        <p:spPr>
          <a:xfrm>
            <a:off x="285722" y="1278466"/>
            <a:ext cx="85365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Rockwell" panose="02060603020205020403" pitchFamily="18" charset="77"/>
              </a:rPr>
              <a:t>No irrelevant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20A2E-1CE3-8A4B-8396-AED30891D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600" y="3003667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8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DDEC7C-B516-A645-B9B5-28C606C7BD8D}"/>
              </a:ext>
            </a:extLst>
          </p:cNvPr>
          <p:cNvSpPr txBox="1"/>
          <p:nvPr/>
        </p:nvSpPr>
        <p:spPr>
          <a:xfrm>
            <a:off x="285722" y="1278466"/>
            <a:ext cx="55515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Rockwell" panose="02060603020205020403" pitchFamily="18" charset="77"/>
              </a:rPr>
              <a:t>No themes</a:t>
            </a:r>
          </a:p>
        </p:txBody>
      </p:sp>
    </p:spTree>
    <p:extLst>
      <p:ext uri="{BB962C8B-B14F-4D97-AF65-F5344CB8AC3E}">
        <p14:creationId xmlns:p14="http://schemas.microsoft.com/office/powerpoint/2010/main" val="3448356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458062-7960-BB4B-8FA2-4E2A5976D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733" y="0"/>
            <a:ext cx="959160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73438-817D-064D-B7F0-974717C96CC8}"/>
              </a:ext>
            </a:extLst>
          </p:cNvPr>
          <p:cNvSpPr txBox="1"/>
          <p:nvPr/>
        </p:nvSpPr>
        <p:spPr>
          <a:xfrm>
            <a:off x="253437" y="2786082"/>
            <a:ext cx="92540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 panose="02060603020205020403" pitchFamily="18" charset="77"/>
              </a:rPr>
              <a:t>Use </a:t>
            </a:r>
          </a:p>
          <a:p>
            <a:r>
              <a:rPr lang="en-US" sz="8000" b="1" dirty="0"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 panose="02060603020205020403" pitchFamily="18" charset="77"/>
              </a:rPr>
              <a:t>high resolution images</a:t>
            </a:r>
            <a:endParaRPr lang="en-US" sz="1200" b="1" dirty="0">
              <a:effectLst>
                <a:outerShdw blurRad="50800" dist="38100" dir="2700000" algn="tl" rotWithShape="0">
                  <a:prstClr val="black">
                    <a:alpha val="70000"/>
                  </a:prstClr>
                </a:outerShdw>
              </a:effectLst>
              <a:latin typeface="Edwardian Script ITC" panose="030303020407070D0804" pitchFamily="66" charset="77"/>
            </a:endParaRPr>
          </a:p>
          <a:p>
            <a:endParaRPr lang="en-US" sz="1200" b="1" dirty="0">
              <a:effectLst>
                <a:outerShdw blurRad="50800" dist="38100" dir="2700000" algn="tl" rotWithShape="0">
                  <a:prstClr val="black">
                    <a:alpha val="70000"/>
                  </a:prstClr>
                </a:outerShdw>
              </a:effectLst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5458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95C82B-4DA8-5B4B-9B5B-8E05F8E0D8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9866" y="1983317"/>
            <a:ext cx="1945217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5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95C82B-4DA8-5B4B-9B5B-8E05F8E0D8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66069" y="0"/>
            <a:ext cx="5677931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5025" y="1484745"/>
            <a:ext cx="2736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"/>
                <a:cs typeface="Rockwell"/>
              </a:rPr>
              <a:t>Tip:  You can ask Google image to search only for large images</a:t>
            </a:r>
          </a:p>
        </p:txBody>
      </p:sp>
    </p:spTree>
    <p:extLst>
      <p:ext uri="{BB962C8B-B14F-4D97-AF65-F5344CB8AC3E}">
        <p14:creationId xmlns:p14="http://schemas.microsoft.com/office/powerpoint/2010/main" val="345619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2F1D5-B32D-6743-8D14-EC16CB7F0AE4}"/>
              </a:ext>
            </a:extLst>
          </p:cNvPr>
          <p:cNvSpPr txBox="1"/>
          <p:nvPr/>
        </p:nvSpPr>
        <p:spPr>
          <a:xfrm>
            <a:off x="491064" y="372534"/>
            <a:ext cx="810260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Rockwell" panose="02060603020205020403" pitchFamily="18" charset="77"/>
              </a:rPr>
              <a:t>Use animations</a:t>
            </a:r>
          </a:p>
          <a:p>
            <a:r>
              <a:rPr lang="en-US" sz="6000" b="1" i="1" dirty="0">
                <a:latin typeface="Rockwell" panose="02060603020205020403" pitchFamily="18" charset="77"/>
              </a:rPr>
              <a:t>wisely</a:t>
            </a:r>
          </a:p>
          <a:p>
            <a:endParaRPr lang="en-US" sz="4000" dirty="0">
              <a:latin typeface="Rockwell" panose="02060603020205020403" pitchFamily="18" charset="77"/>
            </a:endParaRPr>
          </a:p>
          <a:p>
            <a:r>
              <a:rPr lang="en-US" sz="4000" dirty="0">
                <a:latin typeface="Rockwell" panose="02060603020205020403" pitchFamily="18" charset="77"/>
              </a:rPr>
              <a:t>Motion captures attention</a:t>
            </a:r>
          </a:p>
          <a:p>
            <a:r>
              <a:rPr lang="en-US" sz="3600" dirty="0">
                <a:latin typeface="Rockwell" panose="02060603020205020403" pitchFamily="18" charset="77"/>
              </a:rPr>
              <a:t>	Animate points/images/figures</a:t>
            </a:r>
          </a:p>
          <a:p>
            <a:endParaRPr lang="en-US" sz="4000" dirty="0">
              <a:latin typeface="Rockwell" panose="02060603020205020403" pitchFamily="18" charset="77"/>
            </a:endParaRPr>
          </a:p>
          <a:p>
            <a:r>
              <a:rPr lang="en-US" sz="4000" dirty="0">
                <a:latin typeface="Rockwell" panose="02060603020205020403" pitchFamily="18" charset="77"/>
              </a:rPr>
              <a:t>But avoid unnecessary animations/transitions</a:t>
            </a:r>
          </a:p>
          <a:p>
            <a:endParaRPr lang="en-US" sz="8800" b="1" i="1" dirty="0"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4911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2F1D5-B32D-6743-8D14-EC16CB7F0AE4}"/>
              </a:ext>
            </a:extLst>
          </p:cNvPr>
          <p:cNvSpPr txBox="1"/>
          <p:nvPr/>
        </p:nvSpPr>
        <p:spPr>
          <a:xfrm>
            <a:off x="491064" y="372534"/>
            <a:ext cx="810260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Rockwell" panose="02060603020205020403" pitchFamily="18" charset="77"/>
              </a:rPr>
              <a:t>Use animations</a:t>
            </a:r>
          </a:p>
          <a:p>
            <a:r>
              <a:rPr lang="en-US" sz="6000" b="1" i="1" dirty="0">
                <a:latin typeface="Rockwell" panose="02060603020205020403" pitchFamily="18" charset="77"/>
              </a:rPr>
              <a:t>wisely</a:t>
            </a:r>
          </a:p>
          <a:p>
            <a:endParaRPr lang="en-US" sz="4000" dirty="0">
              <a:latin typeface="Rockwell" panose="02060603020205020403" pitchFamily="18" charset="77"/>
            </a:endParaRPr>
          </a:p>
          <a:p>
            <a:r>
              <a:rPr lang="en-US" sz="4000" dirty="0">
                <a:latin typeface="Rockwell" panose="02060603020205020403" pitchFamily="18" charset="77"/>
              </a:rPr>
              <a:t>Motion captures attention</a:t>
            </a:r>
          </a:p>
          <a:p>
            <a:r>
              <a:rPr lang="en-US" sz="3600" dirty="0">
                <a:latin typeface="Rockwell" panose="02060603020205020403" pitchFamily="18" charset="77"/>
              </a:rPr>
              <a:t>	Animate points/images/figures</a:t>
            </a:r>
          </a:p>
          <a:p>
            <a:endParaRPr lang="en-US" sz="4000" dirty="0">
              <a:latin typeface="Rockwell" panose="02060603020205020403" pitchFamily="18" charset="77"/>
            </a:endParaRPr>
          </a:p>
          <a:p>
            <a:r>
              <a:rPr lang="en-US" sz="4000" dirty="0">
                <a:latin typeface="Rockwell" panose="02060603020205020403" pitchFamily="18" charset="77"/>
              </a:rPr>
              <a:t>But avoid unnecessary animations/transitions</a:t>
            </a:r>
          </a:p>
          <a:p>
            <a:endParaRPr lang="en-US" sz="8800" b="1" i="1" dirty="0"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570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03199" y="1490134"/>
            <a:ext cx="70049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Rockwell" panose="02060603020205020403" pitchFamily="18" charset="77"/>
              </a:rPr>
              <a:t>Additional</a:t>
            </a:r>
          </a:p>
          <a:p>
            <a:r>
              <a:rPr lang="en-US" sz="8000" b="1" dirty="0">
                <a:latin typeface="Rockwell" panose="02060603020205020403" pitchFamily="18" charset="77"/>
              </a:rPr>
              <a:t>Useful Tips</a:t>
            </a:r>
          </a:p>
        </p:txBody>
      </p:sp>
    </p:spTree>
    <p:extLst>
      <p:ext uri="{BB962C8B-B14F-4D97-AF65-F5344CB8AC3E}">
        <p14:creationId xmlns:p14="http://schemas.microsoft.com/office/powerpoint/2010/main" val="227691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53EDA-77BE-1C4F-9A0C-A08486E54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346" y="0"/>
            <a:ext cx="4719654" cy="68767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98F0EA-EFC5-9044-9D6C-8378E9AB2122}"/>
              </a:ext>
            </a:extLst>
          </p:cNvPr>
          <p:cNvSpPr txBox="1"/>
          <p:nvPr/>
        </p:nvSpPr>
        <p:spPr>
          <a:xfrm>
            <a:off x="127000" y="1868738"/>
            <a:ext cx="4707467" cy="3139321"/>
          </a:xfrm>
          <a:prstGeom prst="rect">
            <a:avLst/>
          </a:prstGeom>
          <a:noFill/>
          <a:effectLst>
            <a:glow>
              <a:schemeClr val="tx1"/>
            </a:glow>
            <a:outerShdw blurRad="50800" dist="38100" dir="5400000" algn="t" rotWithShape="0">
              <a:prstClr val="black">
                <a:alpha val="40000"/>
              </a:prstClr>
            </a:outerShdw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US" sz="6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ckwell"/>
                <a:cs typeface="Rockwell"/>
              </a:rPr>
              <a:t>Start with a blank canvas</a:t>
            </a:r>
          </a:p>
        </p:txBody>
      </p:sp>
    </p:spTree>
    <p:extLst>
      <p:ext uri="{BB962C8B-B14F-4D97-AF65-F5344CB8AC3E}">
        <p14:creationId xmlns:p14="http://schemas.microsoft.com/office/powerpoint/2010/main" val="540104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8-08-31 at 12.39.2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5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8-08-31 at 12.39.24 PM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35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581" y="2274838"/>
            <a:ext cx="86208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FF0000"/>
                </a:solidFill>
                <a:latin typeface="Rockwell"/>
                <a:cs typeface="Rockwell"/>
              </a:rPr>
              <a:t>aka</a:t>
            </a:r>
            <a:r>
              <a:rPr lang="en-US" sz="6600" b="1" dirty="0">
                <a:latin typeface="Rockwell"/>
                <a:cs typeface="Rockwell"/>
              </a:rPr>
              <a:t> The PowerPoint Format of Death </a:t>
            </a:r>
            <a:r>
              <a:rPr lang="en-US" sz="1400" b="1" dirty="0">
                <a:latin typeface="Rockwell"/>
                <a:cs typeface="Rockwell"/>
              </a:rPr>
              <a:t>(Foo, 2018)</a:t>
            </a:r>
          </a:p>
        </p:txBody>
      </p:sp>
    </p:spTree>
    <p:extLst>
      <p:ext uri="{BB962C8B-B14F-4D97-AF65-F5344CB8AC3E}">
        <p14:creationId xmlns:p14="http://schemas.microsoft.com/office/powerpoint/2010/main" val="4094872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38970" y="953473"/>
            <a:ext cx="78810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err="1">
                <a:latin typeface="Rockwell" panose="02060603020205020403" pitchFamily="18" charset="77"/>
              </a:rPr>
              <a:t>Maximise</a:t>
            </a:r>
            <a:r>
              <a:rPr lang="en-US" sz="6600" b="1" dirty="0">
                <a:latin typeface="Rockwell" panose="02060603020205020403" pitchFamily="18" charset="77"/>
              </a:rPr>
              <a:t> impact of images</a:t>
            </a:r>
          </a:p>
        </p:txBody>
      </p:sp>
      <p:pic>
        <p:nvPicPr>
          <p:cNvPr id="3" name="Picture 2" descr="96346c0ee3449c2eddea7920e705a6af.jpg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477" y="2476963"/>
            <a:ext cx="3500807" cy="2699996"/>
          </a:xfrm>
          <a:prstGeom prst="rect">
            <a:avLst/>
          </a:prstGeom>
        </p:spPr>
      </p:pic>
      <p:pic>
        <p:nvPicPr>
          <p:cNvPr id="5" name="Picture 4" descr="3df17e02a326a821239efd0679cdc4ab.jpg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7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786" y="3952180"/>
            <a:ext cx="3330891" cy="2699994"/>
          </a:xfrm>
          <a:prstGeom prst="rect">
            <a:avLst/>
          </a:prstGeom>
        </p:spPr>
      </p:pic>
      <p:pic>
        <p:nvPicPr>
          <p:cNvPr id="6" name="Picture 5" descr="superhero-comic-book-speech-and-sound-bubbles.jpg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7917" y1="11709" x2="47917" y2="11709"/>
                        <a14:foregroundMark x1="17750" y1="17753" x2="17750" y2="17753"/>
                        <a14:foregroundMark x1="72750" y1="23985" x2="72750" y2="23985"/>
                        <a14:foregroundMark x1="81500" y1="77243" x2="81500" y2="77243"/>
                        <a14:foregroundMark x1="95333" y1="48253" x2="95333" y2="48253"/>
                        <a14:foregroundMark x1="16667" y1="11709" x2="16667" y2="11709"/>
                        <a14:foregroundMark x1="29083" y1="8310" x2="29083" y2="8310"/>
                        <a14:foregroundMark x1="90500" y1="43815" x2="90500" y2="43815"/>
                        <a14:foregroundMark x1="95083" y1="52691" x2="95083" y2="52691"/>
                        <a14:foregroundMark x1="47667" y1="91313" x2="47667" y2="91313"/>
                        <a14:foregroundMark x1="25583" y1="78281" x2="25583" y2="78281"/>
                        <a14:foregroundMark x1="24417" y1="74882" x2="24417" y2="74882"/>
                        <a14:foregroundMark x1="6250" y1="52408" x2="6250" y2="52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9626" y="4101855"/>
            <a:ext cx="4160901" cy="36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55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38970" y="953473"/>
            <a:ext cx="78810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Rockwell" panose="02060603020205020403" pitchFamily="18" charset="77"/>
              </a:rPr>
              <a:t>Use pretty images</a:t>
            </a:r>
          </a:p>
        </p:txBody>
      </p:sp>
      <p:pic>
        <p:nvPicPr>
          <p:cNvPr id="3" name="Picture 2" descr="96346c0ee3449c2eddea7920e705a6af.jpg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477" y="2476963"/>
            <a:ext cx="3500807" cy="2699996"/>
          </a:xfrm>
          <a:prstGeom prst="rect">
            <a:avLst/>
          </a:prstGeom>
        </p:spPr>
      </p:pic>
      <p:pic>
        <p:nvPicPr>
          <p:cNvPr id="5" name="Picture 4" descr="3df17e02a326a821239efd0679cdc4ab.jpg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7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786" y="3952180"/>
            <a:ext cx="3330891" cy="2699994"/>
          </a:xfrm>
          <a:prstGeom prst="rect">
            <a:avLst/>
          </a:prstGeom>
        </p:spPr>
      </p:pic>
      <p:pic>
        <p:nvPicPr>
          <p:cNvPr id="6" name="Picture 5" descr="superhero-comic-book-speech-and-sound-bubbles.jpg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7917" y1="11709" x2="47917" y2="11709"/>
                        <a14:foregroundMark x1="17750" y1="17753" x2="17750" y2="17753"/>
                        <a14:foregroundMark x1="72750" y1="23985" x2="72750" y2="23985"/>
                        <a14:foregroundMark x1="81500" y1="77243" x2="81500" y2="77243"/>
                        <a14:foregroundMark x1="95333" y1="48253" x2="95333" y2="48253"/>
                        <a14:foregroundMark x1="16667" y1="11709" x2="16667" y2="11709"/>
                        <a14:foregroundMark x1="29083" y1="8310" x2="29083" y2="8310"/>
                        <a14:foregroundMark x1="90500" y1="43815" x2="90500" y2="43815"/>
                        <a14:foregroundMark x1="95083" y1="52691" x2="95083" y2="52691"/>
                        <a14:foregroundMark x1="47667" y1="91313" x2="47667" y2="91313"/>
                        <a14:foregroundMark x1="25583" y1="78281" x2="25583" y2="78281"/>
                        <a14:foregroundMark x1="24417" y1="74882" x2="24417" y2="74882"/>
                        <a14:foregroundMark x1="6250" y1="52408" x2="6250" y2="52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9626" y="4101855"/>
            <a:ext cx="4160901" cy="36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17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eynman.jpg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888"/>
            <a:ext cx="9144000" cy="7065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965" y="705586"/>
            <a:ext cx="6898380" cy="2862322"/>
          </a:xfrm>
          <a:prstGeom prst="rect">
            <a:avLst/>
          </a:prstGeom>
          <a:noFill/>
          <a:effectLst>
            <a:glow>
              <a:schemeClr val="tx1"/>
            </a:glow>
            <a:outerShdw blurRad="50800" dist="38100" dir="5400000" algn="t" rotWithShape="0">
              <a:prstClr val="black">
                <a:alpha val="40000"/>
              </a:prstClr>
            </a:outerShdw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US" sz="6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ckwell"/>
                <a:cs typeface="Rockwell"/>
              </a:rPr>
              <a:t>Let them occupy the whole slide</a:t>
            </a:r>
            <a:r>
              <a:rPr lang="is-IS" sz="6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ckwell"/>
                <a:cs typeface="Rockwell"/>
              </a:rPr>
              <a:t>…...</a:t>
            </a:r>
            <a:endParaRPr lang="en-US" sz="6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Rockwell"/>
              <a:cs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565327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53EDA-77BE-1C4F-9A0C-A08486E54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346" y="0"/>
            <a:ext cx="4719654" cy="68767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98F0EA-EFC5-9044-9D6C-8378E9AB2122}"/>
              </a:ext>
            </a:extLst>
          </p:cNvPr>
          <p:cNvSpPr txBox="1"/>
          <p:nvPr/>
        </p:nvSpPr>
        <p:spPr>
          <a:xfrm>
            <a:off x="127001" y="1868738"/>
            <a:ext cx="4165538" cy="2123658"/>
          </a:xfrm>
          <a:prstGeom prst="rect">
            <a:avLst/>
          </a:prstGeom>
          <a:noFill/>
          <a:effectLst>
            <a:glow>
              <a:schemeClr val="tx1"/>
            </a:glow>
            <a:outerShdw blurRad="50800" dist="38100" dir="5400000" algn="t" rotWithShape="0">
              <a:prstClr val="black">
                <a:alpha val="40000"/>
              </a:prstClr>
            </a:outerShdw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is-IS" sz="6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ckwell"/>
                <a:cs typeface="Rockwell"/>
              </a:rPr>
              <a:t>…...or half of it</a:t>
            </a:r>
            <a:endParaRPr lang="en-US" sz="6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Rockwell"/>
              <a:cs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729094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38969" y="953473"/>
            <a:ext cx="83639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Rockwell" panose="02060603020205020403" pitchFamily="18" charset="77"/>
              </a:rPr>
              <a:t>Remove background</a:t>
            </a:r>
          </a:p>
        </p:txBody>
      </p:sp>
      <p:pic>
        <p:nvPicPr>
          <p:cNvPr id="3" name="Picture 2" descr="96346c0ee3449c2eddea7920e705a6af.jpg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477" y="2476963"/>
            <a:ext cx="3500807" cy="2699996"/>
          </a:xfrm>
          <a:prstGeom prst="rect">
            <a:avLst/>
          </a:prstGeom>
        </p:spPr>
      </p:pic>
      <p:pic>
        <p:nvPicPr>
          <p:cNvPr id="5" name="Picture 4" descr="3df17e02a326a821239efd0679cdc4ab.jpg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7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786" y="3952180"/>
            <a:ext cx="3330891" cy="2699994"/>
          </a:xfrm>
          <a:prstGeom prst="rect">
            <a:avLst/>
          </a:prstGeom>
        </p:spPr>
      </p:pic>
      <p:pic>
        <p:nvPicPr>
          <p:cNvPr id="6" name="Picture 5" descr="superhero-comic-book-speech-and-sound-bubbles.jpg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7917" y1="11709" x2="47917" y2="11709"/>
                        <a14:foregroundMark x1="17750" y1="17753" x2="17750" y2="17753"/>
                        <a14:foregroundMark x1="72750" y1="23985" x2="72750" y2="23985"/>
                        <a14:foregroundMark x1="81500" y1="77243" x2="81500" y2="77243"/>
                        <a14:foregroundMark x1="95333" y1="48253" x2="95333" y2="48253"/>
                        <a14:foregroundMark x1="16667" y1="11709" x2="16667" y2="11709"/>
                        <a14:foregroundMark x1="29083" y1="8310" x2="29083" y2="8310"/>
                        <a14:foregroundMark x1="90500" y1="43815" x2="90500" y2="43815"/>
                        <a14:foregroundMark x1="95083" y1="52691" x2="95083" y2="52691"/>
                        <a14:foregroundMark x1="47667" y1="91313" x2="47667" y2="91313"/>
                        <a14:foregroundMark x1="25583" y1="78281" x2="25583" y2="78281"/>
                        <a14:foregroundMark x1="24417" y1="74882" x2="24417" y2="74882"/>
                        <a14:foregroundMark x1="6250" y1="52408" x2="6250" y2="52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9626" y="4101855"/>
            <a:ext cx="4160901" cy="36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76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B5BD8-5BF0-8F44-A3D0-F7C25609E828}"/>
              </a:ext>
            </a:extLst>
          </p:cNvPr>
          <p:cNvSpPr txBox="1"/>
          <p:nvPr/>
        </p:nvSpPr>
        <p:spPr>
          <a:xfrm>
            <a:off x="238969" y="953473"/>
            <a:ext cx="83639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Rockwell" panose="02060603020205020403" pitchFamily="18" charset="77"/>
              </a:rPr>
              <a:t>Remove background</a:t>
            </a:r>
          </a:p>
        </p:txBody>
      </p:sp>
      <p:pic>
        <p:nvPicPr>
          <p:cNvPr id="2" name="Picture 1" descr="96346c0ee3449c2eddea7920e705a6af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5722" y="2147660"/>
            <a:ext cx="2848278" cy="2196734"/>
          </a:xfrm>
          <a:prstGeom prst="rect">
            <a:avLst/>
          </a:prstGeom>
        </p:spPr>
      </p:pic>
      <p:pic>
        <p:nvPicPr>
          <p:cNvPr id="7" name="Picture 6" descr="3df17e02a326a821239efd0679cdc4ab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4772" y="4344394"/>
            <a:ext cx="3100950" cy="2513606"/>
          </a:xfrm>
          <a:prstGeom prst="rect">
            <a:avLst/>
          </a:prstGeom>
        </p:spPr>
      </p:pic>
      <p:pic>
        <p:nvPicPr>
          <p:cNvPr id="8" name="Picture 7" descr="superhero-comic-book-speech-and-sound-bubbles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5722" y="4344394"/>
            <a:ext cx="2848278" cy="251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76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chemeClr val="bg1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bg1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0" y="2286000"/>
            <a:ext cx="9188714" cy="0"/>
          </a:xfrm>
          <a:prstGeom prst="line">
            <a:avLst/>
          </a:prstGeom>
          <a:ln>
            <a:solidFill>
              <a:schemeClr val="bg1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-44714" y="4572000"/>
            <a:ext cx="9188714" cy="0"/>
          </a:xfrm>
          <a:prstGeom prst="line">
            <a:avLst/>
          </a:prstGeom>
          <a:ln>
            <a:solidFill>
              <a:schemeClr val="bg1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0965" y="1492658"/>
            <a:ext cx="69708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Rockwell"/>
                <a:cs typeface="Rockwell"/>
              </a:rPr>
              <a:t>Rule of thirds</a:t>
            </a:r>
          </a:p>
        </p:txBody>
      </p:sp>
    </p:spTree>
    <p:extLst>
      <p:ext uri="{BB962C8B-B14F-4D97-AF65-F5344CB8AC3E}">
        <p14:creationId xmlns:p14="http://schemas.microsoft.com/office/powerpoint/2010/main" val="3238013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2015832_1600x1200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0" y="2286000"/>
            <a:ext cx="918871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-44714" y="4572000"/>
            <a:ext cx="918871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176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252581_1600x1200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0" y="2286000"/>
            <a:ext cx="9188714" cy="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-44714" y="4572000"/>
            <a:ext cx="9188714" cy="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496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9156598_1600x1200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0" y="2286000"/>
            <a:ext cx="9188714" cy="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-44714" y="4572000"/>
            <a:ext cx="9188714" cy="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803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eynman.jpg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888"/>
            <a:ext cx="9144000" cy="7065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965" y="705586"/>
            <a:ext cx="81966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Designing your </a:t>
            </a:r>
          </a:p>
          <a:p>
            <a:r>
              <a:rPr lang="en-US" sz="8000" b="1" dirty="0"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Rockwell"/>
                <a:cs typeface="Rockwell"/>
              </a:rPr>
              <a:t>slides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0" y="2286000"/>
            <a:ext cx="9188714" cy="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-44714" y="4572000"/>
            <a:ext cx="9188714" cy="0"/>
          </a:xfrm>
          <a:prstGeom prst="line">
            <a:avLst/>
          </a:prstGeom>
          <a:ln>
            <a:solidFill>
              <a:srgbClr val="FFFF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083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8-08-31 at 12.39.2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34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563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Sexual Selection for Male Physical Strength 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Stronger men have more partners </a:t>
            </a:r>
            <a:r>
              <a:rPr lang="en-US" sz="1700" dirty="0"/>
              <a:t>(</a:t>
            </a:r>
            <a:r>
              <a:rPr lang="en-US" sz="1700" dirty="0" err="1"/>
              <a:t>Lassek</a:t>
            </a:r>
            <a:r>
              <a:rPr lang="en-US" sz="1700" dirty="0"/>
              <a:t> &amp; </a:t>
            </a:r>
            <a:r>
              <a:rPr lang="en-US" sz="1700" dirty="0" err="1"/>
              <a:t>Gaulin</a:t>
            </a:r>
            <a:r>
              <a:rPr lang="en-US" sz="1700" dirty="0"/>
              <a:t>, 2009; Gallup, White, and Gallup, 2007)</a:t>
            </a:r>
            <a:r>
              <a:rPr lang="en-US" sz="3500" dirty="0"/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Sex differences in strength </a:t>
            </a:r>
            <a:r>
              <a:rPr lang="en-US" sz="1700" dirty="0"/>
              <a:t>(</a:t>
            </a:r>
            <a:r>
              <a:rPr lang="en-US" sz="1700" dirty="0" err="1"/>
              <a:t>Lassek</a:t>
            </a:r>
            <a:r>
              <a:rPr lang="en-US" sz="1700" dirty="0"/>
              <a:t> &amp; </a:t>
            </a:r>
            <a:r>
              <a:rPr lang="en-US" sz="1700" dirty="0" err="1"/>
              <a:t>Gaulin</a:t>
            </a:r>
            <a:r>
              <a:rPr lang="en-US" sz="1700" dirty="0"/>
              <a:t>, 2009)</a:t>
            </a:r>
            <a:endParaRPr lang="en-US" dirty="0"/>
          </a:p>
          <a:p>
            <a:pPr lvl="1"/>
            <a:r>
              <a:rPr lang="en-US" dirty="0"/>
              <a:t>Men 60% more muscle mass, 90% stronger</a:t>
            </a:r>
          </a:p>
          <a:p>
            <a:endParaRPr lang="en-US" dirty="0"/>
          </a:p>
          <a:p>
            <a:r>
              <a:rPr lang="en-US" dirty="0"/>
              <a:t>UK </a:t>
            </a:r>
            <a:r>
              <a:rPr lang="en-US" dirty="0" err="1"/>
              <a:t>Biobank</a:t>
            </a:r>
            <a:r>
              <a:rPr lang="en-US" dirty="0"/>
              <a:t> Study </a:t>
            </a:r>
            <a:r>
              <a:rPr lang="en-US" sz="1700" dirty="0"/>
              <a:t>(</a:t>
            </a:r>
            <a:r>
              <a:rPr lang="en-US" sz="1700" dirty="0" err="1"/>
              <a:t>Sanjak</a:t>
            </a:r>
            <a:r>
              <a:rPr lang="en-US" sz="1700" dirty="0"/>
              <a:t> et al., 2017) </a:t>
            </a:r>
          </a:p>
          <a:p>
            <a:pPr lvl="1"/>
            <a:r>
              <a:rPr lang="en-US" dirty="0"/>
              <a:t>N &gt; 500000</a:t>
            </a:r>
          </a:p>
          <a:p>
            <a:pPr lvl="1"/>
            <a:r>
              <a:rPr lang="en-US" dirty="0"/>
              <a:t>Male strength under positive directional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2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563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Sexual Selection for Male Physical Strength 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Stronger men have more partners </a:t>
            </a:r>
            <a:r>
              <a:rPr lang="en-US" sz="1100" dirty="0"/>
              <a:t>(</a:t>
            </a:r>
            <a:r>
              <a:rPr lang="en-US" sz="1100" dirty="0" err="1"/>
              <a:t>Lassek</a:t>
            </a:r>
            <a:r>
              <a:rPr lang="en-US" sz="1100" dirty="0"/>
              <a:t> &amp; </a:t>
            </a:r>
            <a:r>
              <a:rPr lang="en-US" sz="1100" dirty="0" err="1"/>
              <a:t>Gaulin</a:t>
            </a:r>
            <a:r>
              <a:rPr lang="en-US" sz="1100" dirty="0"/>
              <a:t>, 2009; Gallup, White, and Gallup, 2007)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Sex differences in strength </a:t>
            </a:r>
            <a:r>
              <a:rPr lang="en-US" sz="1100" dirty="0"/>
              <a:t>(</a:t>
            </a:r>
            <a:r>
              <a:rPr lang="en-US" sz="1100" dirty="0" err="1"/>
              <a:t>Lassek</a:t>
            </a:r>
            <a:r>
              <a:rPr lang="en-US" sz="1100" dirty="0"/>
              <a:t> &amp; </a:t>
            </a:r>
            <a:r>
              <a:rPr lang="en-US" sz="1100" dirty="0" err="1"/>
              <a:t>Gaulin</a:t>
            </a:r>
            <a:r>
              <a:rPr lang="en-US" sz="1100" dirty="0"/>
              <a:t>, 2009)</a:t>
            </a:r>
            <a:endParaRPr lang="en-US" sz="2000" dirty="0"/>
          </a:p>
          <a:p>
            <a:pPr lvl="1"/>
            <a:r>
              <a:rPr lang="en-US" sz="1800" dirty="0"/>
              <a:t>Men 60% more muscle mass, 90% stronger</a:t>
            </a:r>
          </a:p>
          <a:p>
            <a:endParaRPr lang="en-US" sz="2000" dirty="0"/>
          </a:p>
          <a:p>
            <a:r>
              <a:rPr lang="en-US" sz="2000" dirty="0"/>
              <a:t>UK </a:t>
            </a:r>
            <a:r>
              <a:rPr lang="en-US" sz="2000" dirty="0" err="1"/>
              <a:t>Biobank</a:t>
            </a:r>
            <a:r>
              <a:rPr lang="en-US" sz="2000" dirty="0"/>
              <a:t> Study </a:t>
            </a:r>
            <a:r>
              <a:rPr lang="en-US" sz="1100" dirty="0"/>
              <a:t>(</a:t>
            </a:r>
            <a:r>
              <a:rPr lang="en-US" sz="1100" dirty="0" err="1"/>
              <a:t>Sanjak</a:t>
            </a:r>
            <a:r>
              <a:rPr lang="en-US" sz="1100" dirty="0"/>
              <a:t> et al., 2017) </a:t>
            </a:r>
          </a:p>
          <a:p>
            <a:pPr lvl="1"/>
            <a:r>
              <a:rPr lang="en-US" sz="1800" dirty="0"/>
              <a:t>N &gt; 500000</a:t>
            </a:r>
          </a:p>
          <a:p>
            <a:pPr lvl="1"/>
            <a:r>
              <a:rPr lang="en-US" sz="1800" dirty="0"/>
              <a:t>Male strength under positive directional selection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Old_school_boxing-750x810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2068" y="3618000"/>
            <a:ext cx="2999999" cy="3240000"/>
          </a:xfrm>
          <a:prstGeom prst="rect">
            <a:avLst/>
          </a:prstGeom>
        </p:spPr>
      </p:pic>
      <p:pic>
        <p:nvPicPr>
          <p:cNvPr id="5" name="Picture 4" descr="arnol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3701" y="4686163"/>
            <a:ext cx="3848384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5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854" y="24928"/>
            <a:ext cx="6113479" cy="153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Gill Sans"/>
              <a:ea typeface="Gill Sans" charset="0"/>
              <a:cs typeface="Gill Sans"/>
            </a:endParaRPr>
          </a:p>
          <a:p>
            <a:pPr>
              <a:lnSpc>
                <a:spcPct val="70000"/>
              </a:lnSpc>
            </a:pPr>
            <a:r>
              <a:rPr lang="en-US" sz="5400" b="1" dirty="0">
                <a:solidFill>
                  <a:schemeClr val="accent6"/>
                </a:solidFill>
                <a:latin typeface="Gill Sans"/>
                <a:ea typeface="Gill Sans" charset="0"/>
                <a:cs typeface="Gill Sans"/>
              </a:rPr>
              <a:t>Sexual Selection </a:t>
            </a:r>
          </a:p>
          <a:p>
            <a:pPr algn="ctr"/>
            <a:r>
              <a:rPr lang="en-US" sz="2800" dirty="0">
                <a:solidFill>
                  <a:schemeClr val="tx1">
                    <a:lumMod val="85000"/>
                  </a:schemeClr>
                </a:solidFill>
                <a:latin typeface="Bradley Hand Bold"/>
                <a:ea typeface="Gill Sans" charset="0"/>
                <a:cs typeface="Bradley Hand Bold"/>
              </a:rPr>
              <a:t>								 </a:t>
            </a:r>
            <a:r>
              <a:rPr lang="en-US" sz="2800" dirty="0">
                <a:solidFill>
                  <a:srgbClr val="FFFFFF"/>
                </a:solidFill>
                <a:latin typeface="Bradley Hand Bold"/>
                <a:ea typeface="Gill Sans" charset="0"/>
                <a:cs typeface="Bradley Hand Bold"/>
              </a:rPr>
              <a:t>for</a:t>
            </a:r>
            <a:r>
              <a:rPr lang="en-US" sz="28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 Male Physical Strength </a:t>
            </a:r>
          </a:p>
        </p:txBody>
      </p:sp>
      <p:pic>
        <p:nvPicPr>
          <p:cNvPr id="5" name="Picture 4" descr="testosterone.jpg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8699" y="389608"/>
            <a:ext cx="4648123" cy="66599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1855" y="2242740"/>
            <a:ext cx="5149216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Stronger men </a:t>
            </a:r>
            <a:r>
              <a:rPr lang="en-US" sz="2400" b="1" dirty="0">
                <a:solidFill>
                  <a:srgbClr val="FFFFFF"/>
                </a:solidFill>
                <a:latin typeface="Gill Sans"/>
                <a:ea typeface="Wingdings"/>
                <a:cs typeface="Gill Sans"/>
                <a:sym typeface="Wingdings"/>
              </a:rPr>
              <a:t></a:t>
            </a:r>
            <a:r>
              <a:rPr lang="en-US" sz="24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  <a:sym typeface="Wingdings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Gill Sans"/>
                <a:ea typeface="Wingdings"/>
                <a:cs typeface="Gill Sans"/>
                <a:sym typeface="Wingdings"/>
              </a:rPr>
              <a:t>More</a:t>
            </a:r>
            <a:r>
              <a:rPr lang="en-US" sz="24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 partners</a:t>
            </a:r>
          </a:p>
          <a:p>
            <a:r>
              <a:rPr lang="en-US" sz="1200" dirty="0" err="1">
                <a:solidFill>
                  <a:srgbClr val="FFFFFF"/>
                </a:solidFill>
                <a:latin typeface="Gill Sans"/>
                <a:cs typeface="Gill Sans"/>
              </a:rPr>
              <a:t>Lassek</a:t>
            </a:r>
            <a:r>
              <a:rPr lang="en-US" sz="1200" dirty="0">
                <a:solidFill>
                  <a:srgbClr val="FFFFFF"/>
                </a:solidFill>
                <a:latin typeface="Gill Sans"/>
                <a:cs typeface="Gill Sans"/>
              </a:rPr>
              <a:t> &amp; </a:t>
            </a:r>
            <a:r>
              <a:rPr lang="en-US" sz="1200" dirty="0" err="1">
                <a:solidFill>
                  <a:srgbClr val="FFFFFF"/>
                </a:solidFill>
                <a:latin typeface="Gill Sans"/>
                <a:cs typeface="Gill Sans"/>
              </a:rPr>
              <a:t>Gaulin</a:t>
            </a:r>
            <a:r>
              <a:rPr lang="en-US" sz="1200" dirty="0">
                <a:solidFill>
                  <a:srgbClr val="FFFFFF"/>
                </a:solidFill>
                <a:latin typeface="Gill Sans"/>
                <a:cs typeface="Gill Sans"/>
              </a:rPr>
              <a:t>, 2009; Gallup, White, and Gallup, 2007</a:t>
            </a:r>
            <a:r>
              <a:rPr lang="en-AU" sz="1200" dirty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endParaRPr lang="en-US" sz="1200" dirty="0">
              <a:solidFill>
                <a:srgbClr val="FFFFFF"/>
              </a:solidFill>
              <a:latin typeface="Gill Sans"/>
              <a:ea typeface="Gill Sans" charset="0"/>
              <a:cs typeface="Gill Sans"/>
            </a:endParaRPr>
          </a:p>
          <a:p>
            <a:endParaRPr lang="en-US" sz="3200" dirty="0">
              <a:solidFill>
                <a:srgbClr val="FFFFFF"/>
              </a:solidFill>
              <a:latin typeface="Gill Sans"/>
              <a:ea typeface="Gill Sans" charset="0"/>
              <a:cs typeface="Gill Sans"/>
            </a:endParaRPr>
          </a:p>
          <a:p>
            <a:r>
              <a:rPr lang="en-US" sz="24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Sex differences in strength</a:t>
            </a:r>
          </a:p>
          <a:p>
            <a:r>
              <a:rPr lang="en-US" sz="1200" dirty="0" err="1">
                <a:solidFill>
                  <a:srgbClr val="FFFFFF"/>
                </a:solidFill>
                <a:latin typeface="Gill Sans"/>
                <a:cs typeface="Gill Sans"/>
              </a:rPr>
              <a:t>Lassek</a:t>
            </a:r>
            <a:r>
              <a:rPr lang="en-US" sz="1200" dirty="0">
                <a:solidFill>
                  <a:srgbClr val="FFFFFF"/>
                </a:solidFill>
                <a:latin typeface="Gill Sans"/>
                <a:cs typeface="Gill Sans"/>
              </a:rPr>
              <a:t> &amp; </a:t>
            </a:r>
            <a:r>
              <a:rPr lang="en-US" sz="1200" dirty="0" err="1">
                <a:solidFill>
                  <a:srgbClr val="FFFFFF"/>
                </a:solidFill>
                <a:latin typeface="Gill Sans"/>
                <a:cs typeface="Gill Sans"/>
              </a:rPr>
              <a:t>Gaulin</a:t>
            </a:r>
            <a:r>
              <a:rPr lang="en-US" sz="1200" dirty="0">
                <a:solidFill>
                  <a:srgbClr val="FFFFFF"/>
                </a:solidFill>
                <a:latin typeface="Gill Sans"/>
                <a:cs typeface="Gill Sans"/>
              </a:rPr>
              <a:t>, 2009</a:t>
            </a:r>
            <a:endParaRPr lang="en-US" sz="1200" dirty="0">
              <a:solidFill>
                <a:srgbClr val="FFFFFF"/>
              </a:solidFill>
              <a:latin typeface="Gill Sans"/>
              <a:ea typeface="Gill Sans" charset="0"/>
              <a:cs typeface="Gill Sans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Men 60% more muscle mass, 90% stronger</a:t>
            </a:r>
          </a:p>
          <a:p>
            <a:endParaRPr lang="en-US" sz="3200" dirty="0">
              <a:solidFill>
                <a:srgbClr val="FFFFFF"/>
              </a:solidFill>
              <a:latin typeface="Gill Sans"/>
              <a:ea typeface="Gill Sans" charset="0"/>
              <a:cs typeface="Gill Sans"/>
            </a:endParaRPr>
          </a:p>
          <a:p>
            <a:r>
              <a:rPr lang="en-US" sz="24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UK </a:t>
            </a:r>
            <a:r>
              <a:rPr lang="en-US" sz="2400" dirty="0" err="1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Biobank</a:t>
            </a:r>
            <a:r>
              <a:rPr lang="en-US" sz="24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 Study </a:t>
            </a:r>
          </a:p>
          <a:p>
            <a:r>
              <a:rPr lang="en-US" sz="1200" dirty="0" err="1">
                <a:solidFill>
                  <a:srgbClr val="FFFFFF"/>
                </a:solidFill>
                <a:latin typeface="Gill Sans"/>
                <a:cs typeface="Gill Sans"/>
              </a:rPr>
              <a:t>Sanjak</a:t>
            </a:r>
            <a:r>
              <a:rPr lang="en-US" sz="1200" dirty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lang="en-US" sz="1200" i="1" dirty="0">
                <a:solidFill>
                  <a:srgbClr val="FFFFFF"/>
                </a:solidFill>
                <a:latin typeface="Gill Sans"/>
                <a:cs typeface="Gill Sans"/>
              </a:rPr>
              <a:t>et al.</a:t>
            </a:r>
            <a:r>
              <a:rPr lang="en-US" sz="1200" dirty="0">
                <a:solidFill>
                  <a:srgbClr val="FFFFFF"/>
                </a:solidFill>
                <a:latin typeface="Gill Sans"/>
                <a:cs typeface="Gill Sans"/>
              </a:rPr>
              <a:t>, 2017</a:t>
            </a:r>
            <a:r>
              <a:rPr lang="en-AU" sz="1200" dirty="0">
                <a:solidFill>
                  <a:srgbClr val="FFFFFF"/>
                </a:solidFill>
                <a:latin typeface="Gill Sans"/>
                <a:cs typeface="Gill Sans"/>
              </a:rPr>
              <a:t>, </a:t>
            </a:r>
            <a:r>
              <a:rPr lang="en-US" sz="1200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N &gt; 500000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Male strength under positive directional </a:t>
            </a:r>
          </a:p>
          <a:p>
            <a:pPr lvl="1"/>
            <a:r>
              <a:rPr lang="en-US" dirty="0">
                <a:solidFill>
                  <a:srgbClr val="FFFFFF"/>
                </a:solidFill>
                <a:latin typeface="Gill Sans"/>
                <a:ea typeface="Gill Sans" charset="0"/>
                <a:cs typeface="Gill Sans"/>
              </a:rPr>
              <a:t>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8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Stay focused on the central question/take-home message</a:t>
            </a:r>
          </a:p>
        </p:txBody>
      </p:sp>
    </p:spTree>
    <p:extLst>
      <p:ext uri="{BB962C8B-B14F-4D97-AF65-F5344CB8AC3E}">
        <p14:creationId xmlns:p14="http://schemas.microsoft.com/office/powerpoint/2010/main" val="334913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 of a scientific talk</a:t>
            </a:r>
          </a:p>
          <a:p>
            <a:pPr lvl="1"/>
            <a:r>
              <a:rPr lang="en-US" dirty="0"/>
              <a:t>Communication with peers</a:t>
            </a:r>
          </a:p>
          <a:p>
            <a:pPr lvl="1"/>
            <a:r>
              <a:rPr lang="en-US" dirty="0"/>
              <a:t>Not a lecture</a:t>
            </a:r>
          </a:p>
          <a:p>
            <a:pPr lvl="1"/>
            <a:r>
              <a:rPr lang="en-US" dirty="0"/>
              <a:t>No need to impress – you are the expert!</a:t>
            </a:r>
          </a:p>
          <a:p>
            <a:endParaRPr lang="en-US" dirty="0"/>
          </a:p>
          <a:p>
            <a:r>
              <a:rPr lang="en-US" dirty="0"/>
              <a:t>Clarity and simplicity</a:t>
            </a:r>
          </a:p>
        </p:txBody>
      </p:sp>
    </p:spTree>
    <p:extLst>
      <p:ext uri="{BB962C8B-B14F-4D97-AF65-F5344CB8AC3E}">
        <p14:creationId xmlns:p14="http://schemas.microsoft.com/office/powerpoint/2010/main" val="104704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7892"/>
            <a:ext cx="8229600" cy="5175077"/>
          </a:xfrm>
        </p:spPr>
        <p:txBody>
          <a:bodyPr>
            <a:normAutofit/>
          </a:bodyPr>
          <a:lstStyle/>
          <a:p>
            <a:r>
              <a:rPr lang="en-US" sz="4400" dirty="0"/>
              <a:t>DO NOT READ OUT YOUR TALK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r>
              <a:rPr lang="en-US" dirty="0"/>
              <a:t>Absolutely no notes! </a:t>
            </a:r>
          </a:p>
          <a:p>
            <a:r>
              <a:rPr lang="en-US" dirty="0"/>
              <a:t>No full sentences on slides (too tempting)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72" y="2191025"/>
            <a:ext cx="5306102" cy="221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Conversational – explaining something you know well</a:t>
            </a:r>
          </a:p>
          <a:p>
            <a:endParaRPr lang="en-US" sz="1400" dirty="0"/>
          </a:p>
          <a:p>
            <a:r>
              <a:rPr lang="en-US" dirty="0"/>
              <a:t>Memorize first and last sentences and transitions, sticky spots</a:t>
            </a:r>
          </a:p>
          <a:p>
            <a:endParaRPr lang="en-US" sz="1400" dirty="0"/>
          </a:p>
          <a:p>
            <a:r>
              <a:rPr lang="en-US" dirty="0"/>
              <a:t>Don’t sound rigid/rehearsed </a:t>
            </a:r>
            <a:r>
              <a:rPr lang="en-US" sz="3600" dirty="0"/>
              <a:t>*</a:t>
            </a:r>
          </a:p>
          <a:p>
            <a:endParaRPr lang="en-US" sz="1400" dirty="0"/>
          </a:p>
          <a:p>
            <a:r>
              <a:rPr lang="en-US" dirty="0"/>
              <a:t>Don’t panic if you get stuck!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9366" y="2781949"/>
            <a:ext cx="7432088" cy="497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0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4838"/>
            <a:ext cx="8229600" cy="1143000"/>
          </a:xfrm>
        </p:spPr>
        <p:txBody>
          <a:bodyPr/>
          <a:lstStyle/>
          <a:p>
            <a:r>
              <a:rPr lang="en-US" dirty="0"/>
              <a:t>COVER SLIDE WITH YOUR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266" y="3529282"/>
            <a:ext cx="8023534" cy="316145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/>
              <a:t>And Your Name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Supervised by:</a:t>
            </a:r>
          </a:p>
          <a:p>
            <a:pPr marL="0" indent="0" algn="ctr">
              <a:buNone/>
            </a:pPr>
            <a:r>
              <a:rPr lang="en-US" dirty="0"/>
              <a:t>Please Don’t Forget This!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60"/>
            <a:ext cx="9144000" cy="158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59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5767"/>
            <a:ext cx="8229600" cy="4525963"/>
          </a:xfrm>
        </p:spPr>
        <p:txBody>
          <a:bodyPr/>
          <a:lstStyle/>
          <a:p>
            <a:r>
              <a:rPr lang="en-US" dirty="0"/>
              <a:t>First impressions are important – start engagingly! </a:t>
            </a:r>
          </a:p>
          <a:p>
            <a:endParaRPr lang="en-US" dirty="0"/>
          </a:p>
          <a:p>
            <a:r>
              <a:rPr lang="en-US" dirty="0"/>
              <a:t>USE FACES!</a:t>
            </a:r>
          </a:p>
        </p:txBody>
      </p:sp>
    </p:spTree>
    <p:extLst>
      <p:ext uri="{BB962C8B-B14F-4D97-AF65-F5344CB8AC3E}">
        <p14:creationId xmlns:p14="http://schemas.microsoft.com/office/powerpoint/2010/main" val="2491346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Introduction: Autism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7733"/>
            <a:ext cx="8229600" cy="4525963"/>
          </a:xfrm>
        </p:spPr>
        <p:txBody>
          <a:bodyPr/>
          <a:lstStyle/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Autism is a developmental condition characterized by three clusters of features:</a:t>
            </a:r>
          </a:p>
          <a:p>
            <a:pPr lvl="1"/>
            <a:r>
              <a:rPr lang="en-US" dirty="0">
                <a:latin typeface="Times New Roman"/>
                <a:cs typeface="Times New Roman"/>
              </a:rPr>
              <a:t>Social Interaction</a:t>
            </a:r>
          </a:p>
          <a:p>
            <a:pPr lvl="1"/>
            <a:r>
              <a:rPr lang="en-US" dirty="0">
                <a:latin typeface="Times New Roman"/>
                <a:cs typeface="Times New Roman"/>
              </a:rPr>
              <a:t>Communication</a:t>
            </a:r>
          </a:p>
          <a:p>
            <a:pPr lvl="1"/>
            <a:r>
              <a:rPr lang="en-US" dirty="0">
                <a:latin typeface="Times New Roman"/>
                <a:cs typeface="Times New Roman"/>
              </a:rPr>
              <a:t>Restricted/repetitive </a:t>
            </a:r>
            <a:r>
              <a:rPr lang="en-US" dirty="0" err="1">
                <a:latin typeface="Times New Roman"/>
                <a:cs typeface="Times New Roman"/>
              </a:rPr>
              <a:t>behaviour</a:t>
            </a:r>
            <a:r>
              <a:rPr lang="en-US" dirty="0">
                <a:latin typeface="Times New Roman"/>
                <a:cs typeface="Times New Roman"/>
              </a:rPr>
              <a:t> and interests</a:t>
            </a:r>
          </a:p>
          <a:p>
            <a:pPr marL="457200" lvl="1" indent="0">
              <a:buNone/>
            </a:pPr>
            <a:r>
              <a:rPr lang="en-US" dirty="0">
                <a:latin typeface="Times New Roman"/>
                <a:cs typeface="Times New Roman"/>
              </a:rPr>
              <a:t>													</a:t>
            </a:r>
            <a:r>
              <a:rPr lang="en-US" sz="2400" dirty="0">
                <a:latin typeface="Times New Roman"/>
                <a:cs typeface="Times New Roman"/>
              </a:rPr>
              <a:t>DSM-IV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8489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851" y="674927"/>
            <a:ext cx="8185949" cy="545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00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need all the literature – enough to motivate study</a:t>
            </a:r>
          </a:p>
          <a:p>
            <a:endParaRPr lang="en-US" dirty="0"/>
          </a:p>
          <a:p>
            <a:r>
              <a:rPr lang="en-US" dirty="0"/>
              <a:t>Talk about </a:t>
            </a:r>
            <a:r>
              <a:rPr lang="en-US" b="1" dirty="0"/>
              <a:t>findings</a:t>
            </a:r>
            <a:r>
              <a:rPr lang="en-US" dirty="0"/>
              <a:t>, not </a:t>
            </a:r>
            <a:r>
              <a:rPr lang="en-US" b="1" dirty="0"/>
              <a:t>papers </a:t>
            </a:r>
            <a:r>
              <a:rPr lang="en-US" dirty="0"/>
              <a:t>or </a:t>
            </a:r>
            <a:r>
              <a:rPr lang="en-US" b="1" dirty="0"/>
              <a:t>researchers</a:t>
            </a:r>
          </a:p>
          <a:p>
            <a:endParaRPr lang="en-US" b="1" dirty="0"/>
          </a:p>
          <a:p>
            <a:r>
              <a:rPr lang="en-US" dirty="0"/>
              <a:t>Author-date references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013608" y="4901419"/>
            <a:ext cx="4013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(Smaller but Legible, 2018)</a:t>
            </a:r>
          </a:p>
        </p:txBody>
      </p:sp>
    </p:spTree>
    <p:extLst>
      <p:ext uri="{BB962C8B-B14F-4D97-AF65-F5344CB8AC3E}">
        <p14:creationId xmlns:p14="http://schemas.microsoft.com/office/powerpoint/2010/main" val="27251578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endParaRPr lang="en-US" sz="3600" dirty="0"/>
          </a:p>
          <a:p>
            <a:pPr marL="0" indent="0" algn="ctr">
              <a:buNone/>
            </a:pPr>
            <a:r>
              <a:rPr lang="en-US" sz="3600" b="1" dirty="0"/>
              <a:t>Explicitly state aims and hypotheses </a:t>
            </a:r>
          </a:p>
        </p:txBody>
      </p:sp>
    </p:spTree>
    <p:extLst>
      <p:ext uri="{BB962C8B-B14F-4D97-AF65-F5344CB8AC3E}">
        <p14:creationId xmlns:p14="http://schemas.microsoft.com/office/powerpoint/2010/main" val="1383448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Audience should always understand WHY – connect back to aims and hypotheses</a:t>
            </a:r>
          </a:p>
          <a:p>
            <a:endParaRPr lang="en-US" dirty="0"/>
          </a:p>
          <a:p>
            <a:r>
              <a:rPr lang="en-US" dirty="0"/>
              <a:t>If multiple tasks, start with list – which tasks are for what?</a:t>
            </a:r>
          </a:p>
        </p:txBody>
      </p:sp>
    </p:spTree>
    <p:extLst>
      <p:ext uri="{BB962C8B-B14F-4D97-AF65-F5344CB8AC3E}">
        <p14:creationId xmlns:p14="http://schemas.microsoft.com/office/powerpoint/2010/main" val="23083152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4900"/>
            <a:ext cx="9144000" cy="210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818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73730" y="1649237"/>
            <a:ext cx="3154489" cy="3277172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173730" y="1649237"/>
            <a:ext cx="3154489" cy="327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8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order of hypotheses</a:t>
            </a:r>
          </a:p>
          <a:p>
            <a:endParaRPr lang="en-US" dirty="0"/>
          </a:p>
          <a:p>
            <a:r>
              <a:rPr lang="en-US" dirty="0"/>
              <a:t>Remind the audience:</a:t>
            </a:r>
          </a:p>
          <a:p>
            <a:pPr lvl="1"/>
            <a:r>
              <a:rPr lang="en-US" dirty="0"/>
              <a:t>What do we expect to see?</a:t>
            </a:r>
          </a:p>
          <a:p>
            <a:pPr lvl="1"/>
            <a:r>
              <a:rPr lang="en-US" dirty="0"/>
              <a:t>Does this result support hypothesis?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00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3859328"/>
              </p:ext>
            </p:extLst>
          </p:nvPr>
        </p:nvGraphicFramePr>
        <p:xfrm>
          <a:off x="1245824" y="528175"/>
          <a:ext cx="5993319" cy="5806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Left Bracket 6"/>
          <p:cNvSpPr/>
          <p:nvPr/>
        </p:nvSpPr>
        <p:spPr>
          <a:xfrm rot="5400000">
            <a:off x="4592571" y="-126467"/>
            <a:ext cx="326011" cy="2484100"/>
          </a:xfrm>
          <a:prstGeom prst="leftBracke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25855" y="528175"/>
            <a:ext cx="10884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*</a:t>
            </a:r>
          </a:p>
        </p:txBody>
      </p:sp>
      <p:sp>
        <p:nvSpPr>
          <p:cNvPr id="6" name="Rectangle 5"/>
          <p:cNvSpPr/>
          <p:nvPr/>
        </p:nvSpPr>
        <p:spPr>
          <a:xfrm>
            <a:off x="4914309" y="935183"/>
            <a:ext cx="1791385" cy="40824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70524" y="935182"/>
            <a:ext cx="1791385" cy="40824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7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6" grpId="0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A90D-85E9-B64F-8063-2563A10A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6CA7A-93DC-5643-B6AA-68B7351EA52B}"/>
              </a:ext>
            </a:extLst>
          </p:cNvPr>
          <p:cNvSpPr txBox="1"/>
          <p:nvPr/>
        </p:nvSpPr>
        <p:spPr>
          <a:xfrm>
            <a:off x="947057" y="1602696"/>
            <a:ext cx="37882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message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41B8F-5F49-FD45-9427-40FFCA91F267}"/>
              </a:ext>
            </a:extLst>
          </p:cNvPr>
          <p:cNvSpPr txBox="1"/>
          <p:nvPr/>
        </p:nvSpPr>
        <p:spPr>
          <a:xfrm>
            <a:off x="1741715" y="2527982"/>
            <a:ext cx="60742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Supporting Results (and literature)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1CDF1-3218-8249-90EB-E836D8E327B3}"/>
              </a:ext>
            </a:extLst>
          </p:cNvPr>
          <p:cNvSpPr txBox="1"/>
          <p:nvPr/>
        </p:nvSpPr>
        <p:spPr>
          <a:xfrm>
            <a:off x="2830285" y="3453268"/>
            <a:ext cx="433251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Limitations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E7712-89EE-7949-9497-05973EB74EEB}"/>
              </a:ext>
            </a:extLst>
          </p:cNvPr>
          <p:cNvSpPr txBox="1"/>
          <p:nvPr/>
        </p:nvSpPr>
        <p:spPr>
          <a:xfrm>
            <a:off x="4659086" y="5303840"/>
            <a:ext cx="433251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Message Again!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59C53-BAD0-284C-8304-F1E582A12EB3}"/>
              </a:ext>
            </a:extLst>
          </p:cNvPr>
          <p:cNvSpPr txBox="1"/>
          <p:nvPr/>
        </p:nvSpPr>
        <p:spPr>
          <a:xfrm>
            <a:off x="3701143" y="4378554"/>
            <a:ext cx="433251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Future Directions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93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3CDFA-3CA4-4240-8B3D-B8E9A6EA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24934"/>
            <a:ext cx="8246533" cy="5601230"/>
          </a:xfrm>
        </p:spPr>
        <p:txBody>
          <a:bodyPr>
            <a:normAutofit fontScale="32500" lnSpcReduction="20000"/>
          </a:bodyPr>
          <a:lstStyle/>
          <a:p>
            <a:pPr marL="0" indent="-457200" algn="ctr">
              <a:buNone/>
            </a:pPr>
            <a:r>
              <a:rPr lang="en-AU" sz="7400" dirty="0"/>
              <a:t>References</a:t>
            </a:r>
          </a:p>
          <a:p>
            <a:pPr marL="0" indent="-457200">
              <a:buNone/>
            </a:pPr>
            <a:endParaRPr lang="en-US" dirty="0"/>
          </a:p>
          <a:p>
            <a:pPr marL="0" indent="-457200">
              <a:buNone/>
            </a:pPr>
            <a:r>
              <a:rPr lang="en-US" dirty="0"/>
              <a:t>Clark, A. P., Howard, K. L., Woods, A. T., Penton-</a:t>
            </a:r>
            <a:r>
              <a:rPr lang="en-US" dirty="0" err="1"/>
              <a:t>Voak</a:t>
            </a:r>
            <a:r>
              <a:rPr lang="en-US" dirty="0"/>
              <a:t>, I. S., &amp; Neumann, C. (2018). Why rate when you could compare? Using the “</a:t>
            </a:r>
            <a:r>
              <a:rPr lang="en-US" dirty="0" err="1"/>
              <a:t>EloChoice</a:t>
            </a:r>
            <a:r>
              <a:rPr lang="en-US" dirty="0"/>
              <a:t>” package to 	assess pairwise comparisons of perceived physical strength. </a:t>
            </a:r>
            <a:r>
              <a:rPr lang="en-US" i="1" dirty="0" err="1"/>
              <a:t>PLoS</a:t>
            </a:r>
            <a:r>
              <a:rPr lang="en-US" i="1" dirty="0"/>
              <a:t> ONE, 13</a:t>
            </a:r>
            <a:r>
              <a:rPr lang="en-US" dirty="0"/>
              <a:t>(1), e0190393. 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Ewing, L., Caulfield, F., Read, A., &amp; Rhodes, G. (2015). Perceived trustworthiness of faces drives trust </a:t>
            </a:r>
            <a:r>
              <a:rPr lang="en-US" dirty="0" err="1"/>
              <a:t>behaviour</a:t>
            </a:r>
            <a:r>
              <a:rPr lang="en-US" dirty="0"/>
              <a:t> in children. </a:t>
            </a:r>
            <a:r>
              <a:rPr lang="en-US" i="1" dirty="0"/>
              <a:t>Developmental Science, 18</a:t>
            </a:r>
            <a:r>
              <a:rPr lang="en-US" dirty="0"/>
              <a:t>(2), 	327-334. doi:10.1111/desc.12218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Foo, Y. Z., Simmons, L. W., &amp; Rhodes, G. (2017). Predictors of facial attractiveness and health in humans. </a:t>
            </a:r>
            <a:r>
              <a:rPr lang="en-US" i="1" dirty="0"/>
              <a:t>Scientific Reports, 7</a:t>
            </a:r>
            <a:r>
              <a:rPr lang="en-US" dirty="0"/>
              <a:t>, 39731. </a:t>
            </a:r>
            <a:endParaRPr lang="en-AU" dirty="0"/>
          </a:p>
          <a:p>
            <a:pPr marL="0" indent="-457200">
              <a:buNone/>
            </a:pPr>
            <a:r>
              <a:rPr lang="en-US" dirty="0" err="1"/>
              <a:t>Germine</a:t>
            </a:r>
            <a:r>
              <a:rPr lang="en-US" dirty="0"/>
              <a:t>, L., Russell, R., </a:t>
            </a:r>
            <a:r>
              <a:rPr lang="en-US" dirty="0" err="1"/>
              <a:t>Bronstad</a:t>
            </a:r>
            <a:r>
              <a:rPr lang="en-US" dirty="0"/>
              <a:t>, P. M., </a:t>
            </a:r>
            <a:r>
              <a:rPr lang="en-US" dirty="0" err="1"/>
              <a:t>Blokland</a:t>
            </a:r>
            <a:r>
              <a:rPr lang="en-US" dirty="0"/>
              <a:t>, </a:t>
            </a:r>
            <a:r>
              <a:rPr lang="en-US" dirty="0" err="1"/>
              <a:t>Gabriëlla</a:t>
            </a:r>
            <a:r>
              <a:rPr lang="en-US" dirty="0"/>
              <a:t> A. M., </a:t>
            </a:r>
            <a:r>
              <a:rPr lang="en-US" dirty="0" err="1"/>
              <a:t>Smoller</a:t>
            </a:r>
            <a:r>
              <a:rPr lang="en-US" dirty="0"/>
              <a:t>, Jordan W., Kwok, H., . . . Wilmer, Jeremy B. (2015). Individual aesthetic 	preferences for faces are shaped mostly by environments, not genes. </a:t>
            </a:r>
            <a:r>
              <a:rPr lang="en-US" i="1" dirty="0"/>
              <a:t>Current Biology, 25</a:t>
            </a:r>
            <a:r>
              <a:rPr lang="en-US" dirty="0"/>
              <a:t>(20), 2684-2689. doi:10.1016/j.cub.2015.08.048</a:t>
            </a:r>
            <a:endParaRPr lang="en-AU" dirty="0"/>
          </a:p>
          <a:p>
            <a:pPr marL="0" indent="-457200">
              <a:buNone/>
            </a:pPr>
            <a:r>
              <a:rPr lang="en-US" dirty="0" err="1"/>
              <a:t>Germine</a:t>
            </a:r>
            <a:r>
              <a:rPr lang="en-US" dirty="0"/>
              <a:t>, L. T., </a:t>
            </a:r>
            <a:r>
              <a:rPr lang="en-US" dirty="0" err="1"/>
              <a:t>Duchaine</a:t>
            </a:r>
            <a:r>
              <a:rPr lang="en-US" dirty="0"/>
              <a:t>, B., &amp; Nakayama, K. (2011). Where cognitive development and aging meet: Face learning ability peaks after age 30. </a:t>
            </a:r>
            <a:r>
              <a:rPr lang="en-US" i="1" dirty="0"/>
              <a:t>Cognition, 	118</a:t>
            </a:r>
            <a:r>
              <a:rPr lang="en-US" dirty="0"/>
              <a:t>(2), 201-210. </a:t>
            </a:r>
            <a:endParaRPr lang="en-AU" dirty="0"/>
          </a:p>
          <a:p>
            <a:pPr marL="0" indent="-457200">
              <a:buNone/>
            </a:pPr>
            <a:r>
              <a:rPr lang="en-US" dirty="0" err="1"/>
              <a:t>Hehman</a:t>
            </a:r>
            <a:r>
              <a:rPr lang="en-US" dirty="0"/>
              <a:t>, E., Sutherland, C. A. M., Flake, J. K., &amp; Slepian, M. L. (2017). The unique contributions of perceiver and target characteristics in person perception. 	</a:t>
            </a:r>
            <a:r>
              <a:rPr lang="en-US" i="1" dirty="0"/>
              <a:t>Journal of personality and social psychology, 113</a:t>
            </a:r>
            <a:r>
              <a:rPr lang="en-US" dirty="0"/>
              <a:t>(4), 513-529. 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Hollis, G. (2018). Scoring best-worst data in unbalanced many-item designs, with applications to crowdsourcing semantic judgments. </a:t>
            </a:r>
            <a:r>
              <a:rPr lang="en-US" i="1" dirty="0"/>
              <a:t>Behavior research 	methods, 50</a:t>
            </a:r>
            <a:r>
              <a:rPr lang="en-US" dirty="0"/>
              <a:t>(2), 711-729. 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Hollis, G., &amp; Westbury, C. (2018). When is best-worst best? A comparison of best-worst scaling, numeric estimation, and rating scales for collection of 	semantic norms. </a:t>
            </a:r>
            <a:r>
              <a:rPr lang="en-US" i="1" dirty="0"/>
              <a:t>Behavior research methods, 50</a:t>
            </a:r>
            <a:r>
              <a:rPr lang="en-US" dirty="0"/>
              <a:t>(1), 115-133. </a:t>
            </a:r>
            <a:endParaRPr lang="en-AU" dirty="0"/>
          </a:p>
          <a:p>
            <a:pPr marL="0" indent="-457200">
              <a:buNone/>
            </a:pPr>
            <a:r>
              <a:rPr lang="en-US" dirty="0" err="1"/>
              <a:t>Hönekopp</a:t>
            </a:r>
            <a:r>
              <a:rPr lang="en-US" dirty="0"/>
              <a:t>, J. (2006). Once more: is beauty in the eye of the beholder? Relative contributions of private and shared taste to judgments of facial 	attractiveness. </a:t>
            </a:r>
            <a:r>
              <a:rPr lang="en-US" i="1" dirty="0"/>
              <a:t>Journal of Experimental Psychology: Human Perception and Performance, 32</a:t>
            </a:r>
            <a:r>
              <a:rPr lang="en-US" dirty="0"/>
              <a:t>(2), 199. 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Jenkins, R., White, D., Van Montfort, X., &amp; Burton, A. M. (2011). Variability in photos of the same face. </a:t>
            </a:r>
            <a:r>
              <a:rPr lang="en-US" i="1" dirty="0"/>
              <a:t>Cognition, 121</a:t>
            </a:r>
            <a:r>
              <a:rPr lang="en-US" dirty="0"/>
              <a:t>(3), 313-323. </a:t>
            </a:r>
            <a:endParaRPr lang="en-AU" dirty="0"/>
          </a:p>
          <a:p>
            <a:pPr marL="0" indent="-457200">
              <a:buNone/>
            </a:pPr>
            <a:r>
              <a:rPr lang="en-US" dirty="0" err="1"/>
              <a:t>Lattery</a:t>
            </a:r>
            <a:r>
              <a:rPr lang="en-US" dirty="0"/>
              <a:t>, K. (2011). Anchoring maximum difference scaling against a threshold–dual response and direct binary responses. </a:t>
            </a:r>
            <a:r>
              <a:rPr lang="en-US" i="1" dirty="0"/>
              <a:t>Sawtooth Software Technical 	Paper Library</a:t>
            </a:r>
            <a:r>
              <a:rPr lang="en-US" dirty="0"/>
              <a:t>. 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Lee, J. A., </a:t>
            </a:r>
            <a:r>
              <a:rPr lang="en-US" dirty="0" err="1"/>
              <a:t>Soutar</a:t>
            </a:r>
            <a:r>
              <a:rPr lang="en-US" dirty="0"/>
              <a:t>, G., &amp; Louviere, J. (2008). The best-worst scaling approach: An alternative to Schwartz's values survey. </a:t>
            </a:r>
            <a:r>
              <a:rPr lang="en-US" i="1" dirty="0"/>
              <a:t>Journal of Personality Assessment, 	90</a:t>
            </a:r>
            <a:r>
              <a:rPr lang="en-US" dirty="0"/>
              <a:t>(4), 335-347. doi:10.1080/00223890802107925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Lee, J. A., </a:t>
            </a:r>
            <a:r>
              <a:rPr lang="en-US" dirty="0" err="1"/>
              <a:t>Soutar</a:t>
            </a:r>
            <a:r>
              <a:rPr lang="en-US" dirty="0"/>
              <a:t>, G. N., &amp; Louviere, J. (2007). Measuring values using best-worst scaling: The LOV example. </a:t>
            </a:r>
            <a:r>
              <a:rPr lang="en-US" i="1" dirty="0"/>
              <a:t>Psychology &amp; Marketing, 24</a:t>
            </a:r>
            <a:r>
              <a:rPr lang="en-US" dirty="0"/>
              <a:t>(12), 1043-1058. 	doi:10.1002/mar.20197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Louviere, J. J., Flynn, T. N., &amp; Marley, A. A. J. (2015). </a:t>
            </a:r>
            <a:r>
              <a:rPr lang="en-US" i="1" dirty="0"/>
              <a:t>Best-worst scaling: Theory, methods and applications</a:t>
            </a:r>
            <a:r>
              <a:rPr lang="en-US" dirty="0"/>
              <a:t>: Cambridge University Press.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Ma, D. S., </a:t>
            </a:r>
            <a:r>
              <a:rPr lang="en-US" dirty="0" err="1"/>
              <a:t>Correll</a:t>
            </a:r>
            <a:r>
              <a:rPr lang="en-US" dirty="0"/>
              <a:t>, J., &amp; </a:t>
            </a:r>
            <a:r>
              <a:rPr lang="en-US" dirty="0" err="1"/>
              <a:t>Wittenbrink</a:t>
            </a:r>
            <a:r>
              <a:rPr lang="en-US" dirty="0"/>
              <a:t>, B. (2015). The Chicago face database: A free stimulus set of faces and norming data. </a:t>
            </a:r>
            <a:r>
              <a:rPr lang="en-US" i="1" dirty="0"/>
              <a:t>Behavior research methods, 47</a:t>
            </a:r>
            <a:r>
              <a:rPr lang="en-US" dirty="0"/>
              <a:t>(4), 	1122-1135. 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Meissner, C. A., &amp; Brigham, J. C. (2001). Thirty years of investigating the own-race bias in memory for faces: A meta-analytic review. </a:t>
            </a:r>
            <a:r>
              <a:rPr lang="en-US" i="1" dirty="0"/>
              <a:t>Psychology, Public 	Policy, and Law, 7</a:t>
            </a:r>
            <a:r>
              <a:rPr lang="en-US" dirty="0"/>
              <a:t>(1), 3. </a:t>
            </a:r>
            <a:endParaRPr lang="en-AU" dirty="0"/>
          </a:p>
          <a:p>
            <a:pPr marL="0" indent="-457200">
              <a:buNone/>
            </a:pPr>
            <a:r>
              <a:rPr lang="en-US" dirty="0" err="1"/>
              <a:t>Olivola</a:t>
            </a:r>
            <a:r>
              <a:rPr lang="en-US" dirty="0"/>
              <a:t>, C. Y., Funk, F., &amp; Todorov, A. (2014). Social attributions from faces bias human choices. </a:t>
            </a:r>
            <a:r>
              <a:rPr lang="en-US" i="1" dirty="0"/>
              <a:t>Trends in Cognitive Sciences, 18</a:t>
            </a:r>
            <a:r>
              <a:rPr lang="en-US" dirty="0"/>
              <a:t>(11), 566-570. 	</a:t>
            </a:r>
            <a:endParaRPr lang="en-AU" dirty="0"/>
          </a:p>
          <a:p>
            <a:pPr marL="0" indent="-457200">
              <a:buNone/>
            </a:pPr>
            <a:r>
              <a:rPr lang="en-US" dirty="0"/>
              <a:t>Orme, B. (2005). Accuracy of HB estimation in </a:t>
            </a:r>
            <a:r>
              <a:rPr lang="en-US" dirty="0" err="1"/>
              <a:t>MaxDiff</a:t>
            </a:r>
            <a:r>
              <a:rPr lang="en-US" dirty="0"/>
              <a:t> experiments. </a:t>
            </a:r>
            <a:r>
              <a:rPr lang="en-US" i="1" dirty="0"/>
              <a:t>Sawtooth Software Research Paper, 	</a:t>
            </a:r>
          </a:p>
          <a:p>
            <a:pPr marL="0" indent="-457200">
              <a:buNone/>
            </a:pPr>
            <a:r>
              <a:rPr lang="en-US" dirty="0"/>
              <a:t>Rule, N. O., </a:t>
            </a:r>
            <a:r>
              <a:rPr lang="en-US" dirty="0" err="1"/>
              <a:t>Krendl</a:t>
            </a:r>
            <a:r>
              <a:rPr lang="en-US" dirty="0"/>
              <a:t>, A. C., </a:t>
            </a:r>
            <a:r>
              <a:rPr lang="en-US" dirty="0" err="1"/>
              <a:t>Ivcevic</a:t>
            </a:r>
            <a:r>
              <a:rPr lang="en-US" dirty="0"/>
              <a:t>, Z., &amp; </a:t>
            </a:r>
            <a:r>
              <a:rPr lang="en-US" dirty="0" err="1"/>
              <a:t>Ambady</a:t>
            </a:r>
            <a:r>
              <a:rPr lang="en-US" dirty="0"/>
              <a:t>, N. (2013). Accuracy and Consensus in Judgments of Trustworthiness From Faces: Behavioral and Neural 	Correlates. </a:t>
            </a:r>
            <a:r>
              <a:rPr lang="en-US" i="1" dirty="0"/>
              <a:t>Journal of personality and social psychology, 104</a:t>
            </a:r>
            <a:r>
              <a:rPr lang="en-US" dirty="0"/>
              <a:t>(3), 409-426. doi:10.1037/a0031050</a:t>
            </a:r>
            <a:endParaRPr lang="en-AU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7BE56-34D6-AD47-AFA9-833FF0E1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65" y="1541199"/>
            <a:ext cx="40640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D776-BAB0-DE45-8232-046879AB4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6" y="728134"/>
            <a:ext cx="8195733" cy="539803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Acknowledgements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8C14C-E145-A049-B1B7-A03A88CC69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434" y="1610784"/>
            <a:ext cx="1460499" cy="1923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078BBB-1AE6-E34E-B201-FD97D712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434" y="4030132"/>
            <a:ext cx="1479180" cy="1852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94074F-4627-8D45-A2A9-39B6B2319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334" y="4612215"/>
            <a:ext cx="1828800" cy="127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F05FD4-A6EE-E94F-8DD0-F072210C6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134" y="1610784"/>
            <a:ext cx="4521200" cy="256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7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8A43F0-DB99-F749-A006-7652242FE28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6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7C5D-D2AA-C940-A555-300CB1CB0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694" y="1473709"/>
            <a:ext cx="8358996" cy="5384291"/>
          </a:xfrm>
        </p:spPr>
        <p:txBody>
          <a:bodyPr/>
          <a:lstStyle/>
          <a:p>
            <a:r>
              <a:rPr lang="en-US" dirty="0"/>
              <a:t>Prepare for questions!</a:t>
            </a:r>
          </a:p>
          <a:p>
            <a:endParaRPr lang="en-US" dirty="0"/>
          </a:p>
          <a:p>
            <a:r>
              <a:rPr lang="en-US" dirty="0"/>
              <a:t>Don’t panic if you don’t know the answer</a:t>
            </a:r>
          </a:p>
          <a:p>
            <a:endParaRPr lang="en-US" dirty="0"/>
          </a:p>
          <a:p>
            <a:r>
              <a:rPr lang="en-US" dirty="0"/>
              <a:t>Plant a mole…</a:t>
            </a:r>
          </a:p>
        </p:txBody>
      </p:sp>
    </p:spTree>
    <p:extLst>
      <p:ext uri="{BB962C8B-B14F-4D97-AF65-F5344CB8AC3E}">
        <p14:creationId xmlns:p14="http://schemas.microsoft.com/office/powerpoint/2010/main" val="93319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61" y="1331859"/>
            <a:ext cx="5968533" cy="1325563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Rockwell"/>
                <a:ea typeface="Helvetica" charset="0"/>
                <a:cs typeface="Rockwell"/>
              </a:rPr>
              <a:t>Let’s see an example from Steve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61" y="3743729"/>
            <a:ext cx="545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https://</a:t>
            </a:r>
            <a:r>
              <a:rPr lang="en-US" dirty="0" err="1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www.youtube.com</a:t>
            </a:r>
            <a:r>
              <a:rPr lang="en-US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watch?v</a:t>
            </a:r>
            <a:r>
              <a:rPr lang="en-US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=9hUIxyE2Ns8</a:t>
            </a:r>
          </a:p>
        </p:txBody>
      </p:sp>
      <p:pic>
        <p:nvPicPr>
          <p:cNvPr id="3" name="Picture 2" descr="steve-jobs-apple-homepage-death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53" b="100000" l="981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546" y="866771"/>
            <a:ext cx="9144000" cy="602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481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394" y="866771"/>
            <a:ext cx="5968533" cy="4553442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Quick discussion</a:t>
            </a:r>
            <a:br>
              <a:rPr lang="en-US" sz="4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</a:br>
            <a:b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</a:br>
            <a: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What was good about his presentation?</a:t>
            </a:r>
            <a:b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</a:br>
            <a:b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</a:br>
            <a: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Slide design?</a:t>
            </a:r>
            <a:b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</a:br>
            <a:b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</a:br>
            <a:r>
              <a:rPr lang="en-US" sz="2800" dirty="0">
                <a:solidFill>
                  <a:srgbClr val="000000"/>
                </a:solidFill>
                <a:latin typeface="Rockwell"/>
                <a:ea typeface="Helvetica" charset="0"/>
                <a:cs typeface="Rockwell"/>
              </a:rPr>
              <a:t>Delivery?</a:t>
            </a:r>
            <a:endParaRPr lang="en-US" sz="3600" b="1" dirty="0">
              <a:solidFill>
                <a:srgbClr val="000000"/>
              </a:solidFill>
              <a:latin typeface="Rockwell"/>
              <a:ea typeface="Helvetica" charset="0"/>
              <a:cs typeface="Rockwell"/>
            </a:endParaRPr>
          </a:p>
        </p:txBody>
      </p:sp>
      <p:pic>
        <p:nvPicPr>
          <p:cNvPr id="3" name="Picture 2" descr="steve-jobs-apple-homepage-death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53" b="100000" l="981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546" y="866771"/>
            <a:ext cx="9144000" cy="602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83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711</Words>
  <Application>Microsoft Macintosh PowerPoint</Application>
  <PresentationFormat>On-screen Show (4:3)</PresentationFormat>
  <Paragraphs>195</Paragraphs>
  <Slides>57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57</vt:i4>
      </vt:variant>
    </vt:vector>
  </HeadingPairs>
  <TitlesOfParts>
    <vt:vector size="74" baseType="lpstr">
      <vt:lpstr>Apple Chancery</vt:lpstr>
      <vt:lpstr>Arial</vt:lpstr>
      <vt:lpstr>Avenir Black</vt:lpstr>
      <vt:lpstr>Bradley Hand Bold</vt:lpstr>
      <vt:lpstr>Calibri</vt:lpstr>
      <vt:lpstr>Edwardian Script ITC</vt:lpstr>
      <vt:lpstr>Gill Sans</vt:lpstr>
      <vt:lpstr>Helvetica</vt:lpstr>
      <vt:lpstr>Rockwell</vt:lpstr>
      <vt:lpstr>Snell Roundhand</vt:lpstr>
      <vt:lpstr>Times New Roman</vt:lpstr>
      <vt:lpstr>Trebuchet MS</vt:lpstr>
      <vt:lpstr>Wingdings</vt:lpstr>
      <vt:lpstr>Wingdings 3</vt:lpstr>
      <vt:lpstr>Office Theme</vt:lpstr>
      <vt:lpstr>Facet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Sexual Selection for Male Physical Strength  </vt:lpstr>
      <vt:lpstr>Sexual Selection for Male Physical Strength  </vt:lpstr>
      <vt:lpstr>PowerPoint Presentation</vt:lpstr>
      <vt:lpstr>PowerPoint Presentation</vt:lpstr>
      <vt:lpstr>PowerPoint Presentation</vt:lpstr>
      <vt:lpstr>PowerPoint Presentation</vt:lpstr>
      <vt:lpstr>Presentation style</vt:lpstr>
      <vt:lpstr>COVER SLIDE WITH YOUR TITLE</vt:lpstr>
      <vt:lpstr>Introduction</vt:lpstr>
      <vt:lpstr>Introduction: Autism</vt:lpstr>
      <vt:lpstr>PowerPoint Presentation</vt:lpstr>
      <vt:lpstr>PowerPoint Presentation</vt:lpstr>
      <vt:lpstr>PowerPoint Presentation</vt:lpstr>
      <vt:lpstr>Method</vt:lpstr>
      <vt:lpstr>PowerPoint Presentation</vt:lpstr>
      <vt:lpstr>PowerPoint Presentation</vt:lpstr>
      <vt:lpstr>Results</vt:lpstr>
      <vt:lpstr>PowerPoint Presentation</vt:lpstr>
      <vt:lpstr>Discussion</vt:lpstr>
      <vt:lpstr>PowerPoint Presentation</vt:lpstr>
      <vt:lpstr>PowerPoint Presentation</vt:lpstr>
      <vt:lpstr>PowerPoint Presentation</vt:lpstr>
      <vt:lpstr>PowerPoint Presentation</vt:lpstr>
      <vt:lpstr>Let’s see an example from Steve Jobs</vt:lpstr>
      <vt:lpstr>Quick discussion  What was good about his presentation?  Slide design?  Delivery?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Foo Yong Zhi</dc:creator>
  <cp:lastModifiedBy>Yong Foo</cp:lastModifiedBy>
  <cp:revision>75</cp:revision>
  <dcterms:created xsi:type="dcterms:W3CDTF">2018-08-31T03:33:07Z</dcterms:created>
  <dcterms:modified xsi:type="dcterms:W3CDTF">2018-09-03T06:34:34Z</dcterms:modified>
</cp:coreProperties>
</file>